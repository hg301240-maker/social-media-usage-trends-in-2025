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70" r:id="rId10"/>
    <p:sldId id="271" r:id="rId11"/>
    <p:sldId id="272" r:id="rId12"/>
    <p:sldId id="273" r:id="rId13"/>
    <p:sldId id="27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1" i="0" u="none" strike="noStrike" kern="1200" spc="0" baseline="0">
                <a:solidFill>
                  <a:srgbClr val="00B0F0"/>
                </a:solidFill>
                <a:latin typeface="+mn-lt"/>
                <a:ea typeface="+mn-ea"/>
                <a:cs typeface="+mn-cs"/>
              </a:defRPr>
            </a:pPr>
            <a:r>
              <a:rPr lang="en-US" sz="2000" b="1" dirty="0">
                <a:solidFill>
                  <a:srgbClr val="00B0F0"/>
                </a:solidFill>
              </a:rPr>
              <a:t>1. Platform</a:t>
            </a:r>
            <a:r>
              <a:rPr lang="en-US" sz="2000" b="1" baseline="0" dirty="0">
                <a:solidFill>
                  <a:srgbClr val="00B0F0"/>
                </a:solidFill>
              </a:rPr>
              <a:t> Usage Percentages </a:t>
            </a:r>
            <a:endParaRPr lang="en-US" sz="2000" b="1" dirty="0">
              <a:solidFill>
                <a:srgbClr val="00B0F0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1" i="0" u="none" strike="noStrike" kern="1200" spc="0" baseline="0">
              <a:solidFill>
                <a:srgbClr val="00B0F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chemeClr val="bg2"/>
            </a:solidFill>
          </c:spPr>
          <c:dPt>
            <c:idx val="0"/>
            <c:bubble3D val="0"/>
            <c:spPr>
              <a:solidFill>
                <a:schemeClr val="accent5"/>
              </a:solidFill>
              <a:ln w="19050">
                <a:solidFill>
                  <a:schemeClr val="tx1">
                    <a:lumMod val="6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E10-4237-910A-60A0C478E5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tx1">
                    <a:lumMod val="6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9E10-4237-910A-60A0C478E5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tx1">
                    <a:lumMod val="6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E10-4237-910A-60A0C478E5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tx1">
                    <a:lumMod val="6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9E10-4237-910A-60A0C478E592}"/>
              </c:ext>
            </c:extLst>
          </c:dPt>
          <c:dLbls>
            <c:dLbl>
              <c:idx val="0"/>
              <c:layout>
                <c:manualLayout>
                  <c:x val="-0.19527308441140359"/>
                  <c:y val="0.1382577670100368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883757631592041"/>
                      <c:h val="0.1015175728709590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9E10-4237-910A-60A0C478E592}"/>
                </c:ext>
              </c:extLst>
            </c:dLbl>
            <c:dLbl>
              <c:idx val="1"/>
              <c:layout>
                <c:manualLayout>
                  <c:x val="-0.18713670589426176"/>
                  <c:y val="-0.2115058375892870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63300854020769"/>
                      <c:h val="0.1175804799707943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9E10-4237-910A-60A0C478E592}"/>
                </c:ext>
              </c:extLst>
            </c:dLbl>
            <c:dLbl>
              <c:idx val="2"/>
              <c:layout>
                <c:manualLayout>
                  <c:x val="0.18713670589426168"/>
                  <c:y val="-0.11065405324567859"/>
                </c:manualLayout>
              </c:layout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07011977987786"/>
                      <c:h val="9.637744259901176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E10-4237-910A-60A0C478E592}"/>
                </c:ext>
              </c:extLst>
            </c:dLbl>
            <c:dLbl>
              <c:idx val="3"/>
              <c:layout>
                <c:manualLayout>
                  <c:x val="0.20069733675616469"/>
                  <c:y val="0.18767242961613548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8781473743735683"/>
                      <c:h val="0.158701522146372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9E10-4237-910A-60A0C478E5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WhatsApp</c:v>
                </c:pt>
                <c:pt idx="1">
                  <c:v>Instagram </c:v>
                </c:pt>
                <c:pt idx="2">
                  <c:v>Facebook</c:v>
                </c:pt>
                <c:pt idx="3">
                  <c:v>Tik Tok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</c:v>
                </c:pt>
                <c:pt idx="1">
                  <c:v>0.7</c:v>
                </c:pt>
                <c:pt idx="2">
                  <c:v>0.65</c:v>
                </c:pt>
                <c:pt idx="3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10-4237-910A-60A0C478E592}"/>
            </c:ext>
          </c:extLs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3"/>
          <c:order val="3"/>
          <c:tx>
            <c:v>Series 1</c:v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(Sheet1!$C$5,Sheet1!$C$7,Sheet1!$C$9,Sheet1!$C$11,Sheet1!$C$13)</c:f>
              <c:strCache>
                <c:ptCount val="5"/>
                <c:pt idx="0">
                  <c:v>Ages 13-18:</c:v>
                </c:pt>
                <c:pt idx="1">
                  <c:v>Ages 19-29:</c:v>
                </c:pt>
                <c:pt idx="2">
                  <c:v>Ages 30-45:</c:v>
                </c:pt>
                <c:pt idx="3">
                  <c:v>Ages 46-60: </c:v>
                </c:pt>
                <c:pt idx="4">
                  <c:v>Ages 60+: </c:v>
                </c:pt>
              </c:strCache>
              <c:extLst/>
            </c:strRef>
          </c:cat>
          <c:val>
            <c:numRef>
              <c:f>(Sheet1!$G$5,Sheet1!$G$7,Sheet1!$G$9,Sheet1!$G$11,Sheet1!$G$13)</c:f>
              <c:numCache>
                <c:formatCode>0%</c:formatCode>
                <c:ptCount val="5"/>
                <c:pt idx="0">
                  <c:v>0.92</c:v>
                </c:pt>
                <c:pt idx="1">
                  <c:v>0.88</c:v>
                </c:pt>
                <c:pt idx="2">
                  <c:v>0.76</c:v>
                </c:pt>
                <c:pt idx="3">
                  <c:v>0.54</c:v>
                </c:pt>
                <c:pt idx="4">
                  <c:v>0.31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CE3-406E-AB30-FA93458BD4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1264679375"/>
        <c:axId val="1264679855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(Sheet1!$C$5,Sheet1!$C$7,Sheet1!$C$9,Sheet1!$C$11,Sheet1!$C$13)</c15:sqref>
                        </c15:formulaRef>
                      </c:ext>
                    </c:extLst>
                    <c:strCache>
                      <c:ptCount val="5"/>
                      <c:pt idx="0">
                        <c:v>Ages 13-18:</c:v>
                      </c:pt>
                      <c:pt idx="1">
                        <c:v>Ages 19-29:</c:v>
                      </c:pt>
                      <c:pt idx="2">
                        <c:v>Ages 30-45:</c:v>
                      </c:pt>
                      <c:pt idx="3">
                        <c:v>Ages 46-60: </c:v>
                      </c:pt>
                      <c:pt idx="4">
                        <c:v>Ages 60+: 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(Sheet1!$D$5,Sheet1!$D$7,Sheet1!$D$9,Sheet1!$D$11,Sheet1!$D$13)</c15:sqref>
                        </c15:formulaRef>
                      </c:ext>
                    </c:extLst>
                    <c:numCache>
                      <c:formatCode>General</c:formatCode>
                      <c:ptCount val="5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1-BCE3-406E-AB30-FA93458BD443}"/>
                  </c:ext>
                </c:extLst>
              </c15:ser>
            </c15:filteredBarSeries>
            <c15:filteredBarSeries>
              <c15:ser>
                <c:idx val="1"/>
                <c:order val="1"/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(Sheet1!$C$5,Sheet1!$C$7,Sheet1!$C$9,Sheet1!$C$11,Sheet1!$C$13)</c15:sqref>
                        </c15:formulaRef>
                      </c:ext>
                    </c:extLst>
                    <c:strCache>
                      <c:ptCount val="5"/>
                      <c:pt idx="0">
                        <c:v>Ages 13-18:</c:v>
                      </c:pt>
                      <c:pt idx="1">
                        <c:v>Ages 19-29:</c:v>
                      </c:pt>
                      <c:pt idx="2">
                        <c:v>Ages 30-45:</c:v>
                      </c:pt>
                      <c:pt idx="3">
                        <c:v>Ages 46-60: </c:v>
                      </c:pt>
                      <c:pt idx="4">
                        <c:v>Ages 60+: 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(Sheet1!$E$5,Sheet1!$E$7,Sheet1!$E$9,Sheet1!$E$11,Sheet1!$E$13)</c15:sqref>
                        </c15:formulaRef>
                      </c:ext>
                    </c:extLst>
                    <c:numCache>
                      <c:formatCode>General</c:formatCode>
                      <c:ptCount val="5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BCE3-406E-AB30-FA93458BD443}"/>
                  </c:ext>
                </c:extLst>
              </c15:ser>
            </c15:filteredBarSeries>
            <c15:filteredBarSeries>
              <c15:ser>
                <c:idx val="2"/>
                <c:order val="2"/>
                <c:spPr>
                  <a:solidFill>
                    <a:schemeClr val="accent3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(Sheet1!$C$5,Sheet1!$C$7,Sheet1!$C$9,Sheet1!$C$11,Sheet1!$C$13)</c15:sqref>
                        </c15:formulaRef>
                      </c:ext>
                    </c:extLst>
                    <c:strCache>
                      <c:ptCount val="5"/>
                      <c:pt idx="0">
                        <c:v>Ages 13-18:</c:v>
                      </c:pt>
                      <c:pt idx="1">
                        <c:v>Ages 19-29:</c:v>
                      </c:pt>
                      <c:pt idx="2">
                        <c:v>Ages 30-45:</c:v>
                      </c:pt>
                      <c:pt idx="3">
                        <c:v>Ages 46-60: </c:v>
                      </c:pt>
                      <c:pt idx="4">
                        <c:v>Ages 60+: 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(Sheet1!$F$5,Sheet1!$F$7,Sheet1!$F$9,Sheet1!$F$11,Sheet1!$F$13)</c15:sqref>
                        </c15:formulaRef>
                      </c:ext>
                    </c:extLst>
                    <c:numCache>
                      <c:formatCode>General</c:formatCode>
                      <c:ptCount val="5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BCE3-406E-AB30-FA93458BD443}"/>
                  </c:ext>
                </c:extLst>
              </c15:ser>
            </c15:filteredBarSeries>
          </c:ext>
        </c:extLst>
      </c:barChart>
      <c:catAx>
        <c:axId val="12646793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4679855"/>
        <c:crosses val="autoZero"/>
        <c:auto val="1"/>
        <c:lblAlgn val="ctr"/>
        <c:lblOffset val="100"/>
        <c:noMultiLvlLbl val="0"/>
      </c:catAx>
      <c:valAx>
        <c:axId val="1264679855"/>
        <c:scaling>
          <c:orientation val="minMax"/>
        </c:scaling>
        <c:delete val="0"/>
        <c:axPos val="l"/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4679375"/>
        <c:crosses val="autoZero"/>
        <c:crossBetween val="between"/>
      </c:valAx>
      <c:spPr>
        <a:noFill/>
        <a:ln>
          <a:solidFill>
            <a:schemeClr val="tx1">
              <a:lumMod val="65000"/>
            </a:schemeClr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57150" cap="sq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noFill/>
                <a:prstDash val="sysDot"/>
              </a:ln>
              <a:effectLst/>
            </c:spPr>
            <c:trendlineType val="exp"/>
            <c:dispRSqr val="0"/>
            <c:dispEq val="0"/>
          </c:trendline>
          <c:cat>
            <c:strRef>
              <c:f>Sheet1!$A$2:$A$5</c:f>
              <c:strCache>
                <c:ptCount val="3"/>
                <c:pt idx="0">
                  <c:v>TiK Tok</c:v>
                </c:pt>
                <c:pt idx="1">
                  <c:v>Instagram</c:v>
                </c:pt>
                <c:pt idx="2">
                  <c:v>Facebook</c:v>
                </c:pt>
              </c:strCache>
              <c:extLst/>
            </c:strRef>
          </c:cat>
          <c:val>
            <c:numRef>
              <c:f>Sheet1!$B$2:$B$5</c:f>
              <c:numCache>
                <c:formatCode>General</c:formatCode>
                <c:ptCount val="3"/>
                <c:pt idx="0">
                  <c:v>33.299999999999997</c:v>
                </c:pt>
                <c:pt idx="1">
                  <c:v>43</c:v>
                </c:pt>
                <c:pt idx="2">
                  <c:v>65.7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0-2D0C-4811-B60A-343E95AE93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571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3"/>
                <c:pt idx="0">
                  <c:v>TiK Tok</c:v>
                </c:pt>
                <c:pt idx="1">
                  <c:v>Instagram</c:v>
                </c:pt>
                <c:pt idx="2">
                  <c:v>Facebook</c:v>
                </c:pt>
              </c:strCache>
              <c:extLst/>
            </c:strRef>
          </c:cat>
          <c:val>
            <c:numRef>
              <c:f>Sheet1!$C$2:$C$5</c:f>
              <c:numCache>
                <c:formatCode>General</c:formatCode>
                <c:ptCount val="3"/>
                <c:pt idx="0">
                  <c:v>35.799999999999997</c:v>
                </c:pt>
                <c:pt idx="1">
                  <c:v>45.3</c:v>
                </c:pt>
                <c:pt idx="2">
                  <c:v>67.7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1-2D0C-4811-B60A-343E95AE93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571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3"/>
                <c:pt idx="0">
                  <c:v>TiK Tok</c:v>
                </c:pt>
                <c:pt idx="1">
                  <c:v>Instagram</c:v>
                </c:pt>
                <c:pt idx="2">
                  <c:v>Facebook</c:v>
                </c:pt>
              </c:strCache>
              <c:extLst/>
            </c:strRef>
          </c:cat>
          <c:val>
            <c:numRef>
              <c:f>Sheet1!$D$2:$D$5</c:f>
              <c:numCache>
                <c:formatCode>General</c:formatCode>
                <c:ptCount val="3"/>
                <c:pt idx="0">
                  <c:v>37.799999999999997</c:v>
                </c:pt>
                <c:pt idx="1">
                  <c:v>47.5</c:v>
                </c:pt>
                <c:pt idx="2">
                  <c:v>69.400000000000006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2-2D0C-4811-B60A-343E95AE931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098777775"/>
        <c:axId val="1098778255"/>
      </c:lineChart>
      <c:catAx>
        <c:axId val="109877777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8778255"/>
        <c:crosses val="autoZero"/>
        <c:auto val="1"/>
        <c:lblAlgn val="ctr"/>
        <c:lblOffset val="100"/>
        <c:noMultiLvlLbl val="0"/>
      </c:catAx>
      <c:valAx>
        <c:axId val="1098778255"/>
        <c:scaling>
          <c:orientation val="minMax"/>
          <c:max val="70"/>
          <c:min val="3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8777775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6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>
          <a:lumMod val="65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900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317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9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60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3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871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474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120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366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061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284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853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751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030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054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0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6132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</p:sldLayoutIdLst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Network Technology Background">
            <a:extLst>
              <a:ext uri="{FF2B5EF4-FFF2-40B4-BE49-F238E27FC236}">
                <a16:creationId xmlns:a16="http://schemas.microsoft.com/office/drawing/2014/main" id="{7C49D53C-7303-25BD-0BCF-A1C00DB595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r="9091" b="12214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DB3FE3-BFCD-1E1F-E64B-B74240334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sz="6000" dirty="0">
                <a:solidFill>
                  <a:srgbClr val="FFFFFF"/>
                </a:solidFill>
              </a:rPr>
              <a:t>SOCIAL MEDIA USAGE TRENDS IN 2025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627584-BA02-E761-1430-412250018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BY HARSHIT GUPTA </a:t>
            </a:r>
          </a:p>
        </p:txBody>
      </p:sp>
    </p:spTree>
    <p:extLst>
      <p:ext uri="{BB962C8B-B14F-4D97-AF65-F5344CB8AC3E}">
        <p14:creationId xmlns:p14="http://schemas.microsoft.com/office/powerpoint/2010/main" val="3878723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16FE9-A981-6982-E51B-25DA9E13A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226" y="293914"/>
            <a:ext cx="9404723" cy="810025"/>
          </a:xfrm>
        </p:spPr>
        <p:txBody>
          <a:bodyPr/>
          <a:lstStyle/>
          <a:p>
            <a:pPr algn="ctr"/>
            <a:r>
              <a:rPr lang="en-US" b="1" u="sng" dirty="0"/>
              <a:t>Introduction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69B44-4DF2-1437-B350-A64EDF2B9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" y="1306286"/>
            <a:ext cx="11936187" cy="5431971"/>
          </a:xfrm>
        </p:spPr>
        <p:txBody>
          <a:bodyPr>
            <a:normAutofit fontScale="32500" lnSpcReduction="20000"/>
          </a:bodyPr>
          <a:lstStyle/>
          <a:p>
            <a:pPr marL="0" indent="0">
              <a:buClr>
                <a:schemeClr val="tx1"/>
              </a:buClr>
              <a:buNone/>
            </a:pPr>
            <a:r>
              <a:rPr lang="en-US" sz="9800" b="1" dirty="0"/>
              <a:t>Key Social Media Usage Trends in 2025:</a:t>
            </a:r>
          </a:p>
          <a:p>
            <a:pPr marL="0" indent="0">
              <a:buClr>
                <a:schemeClr val="tx1"/>
              </a:buClr>
              <a:buSzPct val="100000"/>
              <a:buNone/>
            </a:pPr>
            <a:r>
              <a:rPr lang="en-US" sz="6200" b="1" dirty="0">
                <a:solidFill>
                  <a:srgbClr val="FF0000"/>
                </a:solidFill>
              </a:rPr>
              <a:t>Short-Form Video Dominance:</a:t>
            </a:r>
          </a:p>
          <a:p>
            <a:pPr fontAlgn="ctr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sz="6200" dirty="0"/>
              <a:t>Platforms like TikTok, Instagram Reels, and YouTube Shorts continue to be extremely popular, driving the need for businesses to create engaging, bite-sized video content. </a:t>
            </a:r>
          </a:p>
          <a:p>
            <a:pPr marL="0" indent="0">
              <a:buClr>
                <a:schemeClr val="tx1"/>
              </a:buClr>
              <a:buNone/>
            </a:pPr>
            <a:r>
              <a:rPr lang="en-US" sz="6200" b="1" dirty="0">
                <a:solidFill>
                  <a:srgbClr val="FF0000"/>
                </a:solidFill>
              </a:rPr>
              <a:t>Micro-Influencer Power:</a:t>
            </a:r>
            <a:endParaRPr lang="en-US" sz="6200" dirty="0">
              <a:solidFill>
                <a:srgbClr val="FF0000"/>
              </a:solidFill>
            </a:endParaRPr>
          </a:p>
          <a:p>
            <a:pPr fontAlgn="ctr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sz="6200" dirty="0"/>
              <a:t>Micro-influencers, with their smaller, highly engaged audiences, are gaining more traction, offering businesses more authentic and cost-effective ways to reach specific demographics. </a:t>
            </a:r>
          </a:p>
          <a:p>
            <a:pPr marL="0" indent="0">
              <a:buClr>
                <a:schemeClr val="tx1"/>
              </a:buClr>
              <a:buNone/>
            </a:pPr>
            <a:r>
              <a:rPr lang="en-US" sz="6200" b="1" dirty="0">
                <a:solidFill>
                  <a:srgbClr val="FF0000"/>
                </a:solidFill>
              </a:rPr>
              <a:t>Social Commerce Explosion:</a:t>
            </a:r>
            <a:endParaRPr lang="en-US" sz="6200" dirty="0">
              <a:solidFill>
                <a:srgbClr val="FF0000"/>
              </a:solidFill>
            </a:endParaRPr>
          </a:p>
          <a:p>
            <a:pPr fontAlgn="ctr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sz="6200" dirty="0"/>
              <a:t>Social commerce is becoming a primary revenue source for many businesses, with platforms like Facebook and Instagram integrating shopping features and enabling direct transactions. </a:t>
            </a:r>
          </a:p>
          <a:p>
            <a:pPr marL="0" indent="0">
              <a:buClr>
                <a:schemeClr val="tx1"/>
              </a:buClr>
              <a:buNone/>
            </a:pPr>
            <a:r>
              <a:rPr lang="en-US" sz="6200" b="1" dirty="0">
                <a:solidFill>
                  <a:srgbClr val="FF0000"/>
                </a:solidFill>
              </a:rPr>
              <a:t>AI Integration:</a:t>
            </a:r>
          </a:p>
          <a:p>
            <a:pPr fontAlgn="ctr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sz="6200" dirty="0"/>
              <a:t>Social media platforms are increasingly incorporating AI features for content creation, personalized recommendations, and customer support, requiring businesses to adapt to these technological advancements. </a:t>
            </a:r>
          </a:p>
          <a:p>
            <a:pPr marL="0" indent="0">
              <a:buClr>
                <a:schemeClr val="tx1"/>
              </a:buCl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762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7BEA54-FFFD-A9B7-4D18-44E6DAEB991B}"/>
              </a:ext>
            </a:extLst>
          </p:cNvPr>
          <p:cNvSpPr txBox="1"/>
          <p:nvPr/>
        </p:nvSpPr>
        <p:spPr>
          <a:xfrm>
            <a:off x="342900" y="620485"/>
            <a:ext cx="11506200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Impact on Businesses: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Increased Brand Awareness and Engagement:</a:t>
            </a:r>
            <a:endParaRPr lang="en-US" sz="2000" dirty="0">
              <a:solidFill>
                <a:srgbClr val="FF0000"/>
              </a:solidFill>
            </a:endParaRPr>
          </a:p>
          <a:p>
            <a:pPr marL="285750" indent="-285750" fontAlgn="ctr">
              <a:buFont typeface="Wingdings" panose="05000000000000000000" pitchFamily="2" charset="2"/>
              <a:buChar char="v"/>
            </a:pPr>
            <a:r>
              <a:rPr lang="en-US" sz="2000" dirty="0"/>
              <a:t>Social media provides businesses with a powerful platform to reach a vast audience and build brand awareness through engaging content and targeted advertising. 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Improved Customer Service:</a:t>
            </a:r>
          </a:p>
          <a:p>
            <a:pPr marL="285750" indent="-285750" fontAlgn="ctr">
              <a:buFont typeface="Wingdings" panose="05000000000000000000" pitchFamily="2" charset="2"/>
              <a:buChar char="v"/>
            </a:pPr>
            <a:r>
              <a:rPr lang="en-US" sz="2000" dirty="0"/>
              <a:t>Social media allows for real-time customer engagement, enabling businesses to address queries and concerns promptly, leading to increased customer satisfaction. 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Enhanced Targeted Advertising:</a:t>
            </a:r>
            <a:endParaRPr lang="en-US" sz="2000" dirty="0">
              <a:solidFill>
                <a:srgbClr val="FF0000"/>
              </a:solidFill>
            </a:endParaRPr>
          </a:p>
          <a:p>
            <a:pPr marL="285750" indent="-285750" fontAlgn="ctr">
              <a:buFont typeface="Wingdings" panose="05000000000000000000" pitchFamily="2" charset="2"/>
              <a:buChar char="v"/>
            </a:pPr>
            <a:r>
              <a:rPr lang="en-US" sz="2000" dirty="0"/>
              <a:t>Social media platforms offer sophisticated targeting options, allowing businesses to reach specific demographics and interests with their advertising campaigns. 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Increased</a:t>
            </a:r>
            <a:r>
              <a:rPr lang="en-US" sz="2000" b="1" dirty="0"/>
              <a:t> </a:t>
            </a:r>
            <a:r>
              <a:rPr lang="en-US" sz="2000" b="1" dirty="0">
                <a:solidFill>
                  <a:srgbClr val="FF0000"/>
                </a:solidFill>
              </a:rPr>
              <a:t>Sales and Revenue:</a:t>
            </a:r>
          </a:p>
          <a:p>
            <a:pPr marL="285750" indent="-285750" fontAlgn="ctr">
              <a:buFont typeface="Wingdings" panose="05000000000000000000" pitchFamily="2" charset="2"/>
              <a:buChar char="v"/>
            </a:pPr>
            <a:r>
              <a:rPr lang="en-US" sz="2000" dirty="0"/>
              <a:t>Social commerce features and the ability to track product discovery and purchase decisions directly through social media are driving sales and revenue growth for businesses. 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Need for Adaptability: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Businesses must continuously adapt to the evolving social media landscape, staying informed about new trends and technologies to remain competitive. 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750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E47B8-BA39-0AA3-E962-E3B00993E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83" y="278546"/>
            <a:ext cx="9404723" cy="722939"/>
          </a:xfrm>
        </p:spPr>
        <p:txBody>
          <a:bodyPr/>
          <a:lstStyle/>
          <a:p>
            <a:pPr algn="ctr"/>
            <a:r>
              <a:rPr lang="en-US" b="1" u="sng" dirty="0"/>
              <a:t>Key Statistics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9E344E3-062E-FB96-1C37-036F7A8C5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" y="1240971"/>
            <a:ext cx="11919857" cy="5617029"/>
          </a:xfrm>
        </p:spPr>
        <p:txBody>
          <a:bodyPr>
            <a:normAutofit fontScale="92500" lnSpcReduction="10000"/>
          </a:bodyPr>
          <a:lstStyle/>
          <a:p>
            <a:pPr marL="0" indent="0">
              <a:buClr>
                <a:schemeClr val="tx1"/>
              </a:buClr>
              <a:buNone/>
            </a:pPr>
            <a:r>
              <a:rPr lang="en-US" sz="3500" b="1" dirty="0">
                <a:solidFill>
                  <a:srgbClr val="FF0000"/>
                </a:solidFill>
              </a:rPr>
              <a:t>Total users and usage time</a:t>
            </a:r>
          </a:p>
          <a:p>
            <a:pPr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There are approximately 5.24 billion social media users worldwide as of 2025.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The number of social media users continues to rise, with 241 million new users joining since last year, reflecting a 4.7% annual growth rate.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The average daily time spent on social media is around 2 hours and 21 minutes, although there's a slight decrease compared to previous years, suggesting a shift towards more intentional usage.</a:t>
            </a:r>
          </a:p>
          <a:p>
            <a:pPr marL="0" lvl="0" indent="0">
              <a:buClr>
                <a:schemeClr val="tx1"/>
              </a:buClr>
              <a:buNone/>
            </a:pPr>
            <a:endParaRPr lang="en-US" sz="1800" dirty="0"/>
          </a:p>
          <a:p>
            <a:pPr marL="0" indent="0">
              <a:buClr>
                <a:schemeClr val="tx1"/>
              </a:buClr>
              <a:buNone/>
            </a:pPr>
            <a:r>
              <a:rPr lang="en-US" sz="3200" b="1" dirty="0">
                <a:solidFill>
                  <a:srgbClr val="FF0000"/>
                </a:solidFill>
              </a:rPr>
              <a:t>Top platforms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Facebook remains the largest social media platform in terms of user numbers, with over 3.07 billion users.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YouTube holds the second spot with 2.53 billion users.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Instagram and WhatsApp are tied in third place, each boasting 2.0 billion users.</a:t>
            </a:r>
          </a:p>
          <a:p>
            <a:pPr lvl="0"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dirty="0"/>
              <a:t>Other prominent platforms include TikTok (1.59 billion users), WeChat (1.38 billion users), and Telegram (950 million users).  </a:t>
            </a:r>
          </a:p>
          <a:p>
            <a:pPr marL="0" indent="0">
              <a:buClr>
                <a:schemeClr val="tx1"/>
              </a:buCl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360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6FD70C-A9FC-2F63-D027-D8021C6E08F8}"/>
              </a:ext>
            </a:extLst>
          </p:cNvPr>
          <p:cNvSpPr txBox="1"/>
          <p:nvPr/>
        </p:nvSpPr>
        <p:spPr>
          <a:xfrm>
            <a:off x="119742" y="770759"/>
            <a:ext cx="11952515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Growth of video content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sz="2000" dirty="0"/>
              <a:t>Video content continues its dominance in social media, with short-form videos like Instagram Reels, YouTube Shorts, and TikTok leading the charge.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sz="2000" dirty="0"/>
              <a:t>Short-form video content is expected to constitute a significant majority of all online content by 2025.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sz="2000" dirty="0"/>
              <a:t>TikTok's average daily usage of 1 hour and 35 minutes makes it the most engaging social app in terms of time spent per day.</a:t>
            </a:r>
          </a:p>
          <a:p>
            <a:endParaRPr lang="en-US" sz="2000" b="1" dirty="0">
              <a:solidFill>
                <a:srgbClr val="FF0000"/>
              </a:solidFill>
            </a:endParaRPr>
          </a:p>
          <a:p>
            <a:r>
              <a:rPr lang="en-US" sz="3200" b="1" dirty="0">
                <a:solidFill>
                  <a:srgbClr val="FF0000"/>
                </a:solidFill>
              </a:rPr>
              <a:t>Other notable trends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Authenticity and User-Generated Content (UGC): There's a growing demand for raw, unfiltered content and UGC as users connect with relatable and transparent brands.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Influencer Marketing: While the overall market continues to expand, there's a shift towards nano- and micro-influencers who offer higher engagement and authenticity compared to celebrity influencers.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/>
              <a:t>AI Integrations: Social media platforms are incorporating AI features for tasks like ad targeting, content creation, and even customer service interactions.</a:t>
            </a:r>
          </a:p>
          <a:p>
            <a:pPr lvl="0"/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v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9507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01342-8218-8A74-B3ED-0E798EEB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1" y="267660"/>
            <a:ext cx="9404723" cy="1005968"/>
          </a:xfrm>
        </p:spPr>
        <p:txBody>
          <a:bodyPr/>
          <a:lstStyle/>
          <a:p>
            <a:pPr algn="ctr"/>
            <a:r>
              <a:rPr lang="en-US" b="1" u="sng" dirty="0"/>
              <a:t>Age Group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2C946-8DF2-7723-6C64-517B2EB73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058" y="1321655"/>
            <a:ext cx="11821884" cy="5268685"/>
          </a:xfrm>
        </p:spPr>
        <p:txBody>
          <a:bodyPr>
            <a:normAutofit lnSpcReduction="10000"/>
          </a:bodyPr>
          <a:lstStyle/>
          <a:p>
            <a:pPr marL="0" indent="0">
              <a:buClr>
                <a:schemeClr val="tx1"/>
              </a:buClr>
              <a:buSzPct val="100000"/>
              <a:buNone/>
            </a:pPr>
            <a:r>
              <a:rPr lang="en-US" dirty="0"/>
              <a:t>In 2025, social media usage continues to be widespread, with varying degrees of adoption across different age groups. 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Young adults and teens (13-29): 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Gen Z (ages 13-24) and Millennials (ages 28-43) remain the most active users, with 95% of Gen Z in the U.S. actively using social media. They predominantly favor platforms like YouTube, Instagram, and TikTok.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Middle-aged adults (30-45): 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Usage remains high, with platforms like YouTube, Facebook, and Instagram attracting a significant portion of this demographic.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Older adults (46-60+): 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Social media use among this demographic is lower compared to younger groups, but platforms like Facebook and YouTube still see notable engagement. For example, 65% of adults aged 65 and older in the U.S. use YouTube. 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endParaRPr lang="en-US" dirty="0"/>
          </a:p>
          <a:p>
            <a:pPr marL="0" indent="0">
              <a:buClr>
                <a:schemeClr val="tx1"/>
              </a:buClr>
              <a:buSzPct val="10000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722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896ACA-FD19-031B-FDA8-454D8876C54A}"/>
              </a:ext>
            </a:extLst>
          </p:cNvPr>
          <p:cNvSpPr txBox="1"/>
          <p:nvPr/>
        </p:nvSpPr>
        <p:spPr>
          <a:xfrm>
            <a:off x="250371" y="1186544"/>
            <a:ext cx="11691257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According to social media usage trends in 2025, the percentages of individuals using social media across various age groups are as follows:</a:t>
            </a:r>
          </a:p>
          <a:p>
            <a:endParaRPr lang="en-US" sz="2000" dirty="0"/>
          </a:p>
          <a:p>
            <a:r>
              <a:rPr lang="en-US" sz="2800" b="1" dirty="0">
                <a:solidFill>
                  <a:srgbClr val="FF0000"/>
                </a:solidFill>
              </a:rPr>
              <a:t>Ages 13-18:</a:t>
            </a:r>
          </a:p>
          <a:p>
            <a:r>
              <a:rPr lang="en-US" sz="2000" dirty="0"/>
              <a:t>                       92% use social media platforms regularly.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Ages 19-29:</a:t>
            </a:r>
          </a:p>
          <a:p>
            <a:r>
              <a:rPr lang="en-US" sz="2000" dirty="0"/>
              <a:t>                     88% are active social media users.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Ages 30-45:</a:t>
            </a:r>
          </a:p>
          <a:p>
            <a:r>
              <a:rPr lang="en-US" sz="2000" dirty="0"/>
              <a:t>                     76% use social media platforms.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Ages 46-60: </a:t>
            </a:r>
          </a:p>
          <a:p>
            <a:r>
              <a:rPr lang="en-US" sz="2000" dirty="0"/>
              <a:t>                     54% engage with social media content.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Ages 60+: </a:t>
            </a:r>
          </a:p>
          <a:p>
            <a:r>
              <a:rPr lang="en-US" sz="2000" dirty="0"/>
              <a:t>                  31% use social media regularly.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344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52232-7424-4F9D-A4B4-4835E150F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625" y="326571"/>
            <a:ext cx="9404723" cy="881743"/>
          </a:xfrm>
        </p:spPr>
        <p:txBody>
          <a:bodyPr/>
          <a:lstStyle/>
          <a:p>
            <a:pPr algn="ctr"/>
            <a:r>
              <a:rPr lang="en-US" b="1" u="sng" dirty="0"/>
              <a:t>Business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9B211-8F2A-1893-3210-BBC4F7103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42" y="1208314"/>
            <a:ext cx="11854543" cy="551905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Marketing: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Short-form video ads are generating impressive engagement rates, with some marketers reporting a 40% increase in engagement. Short-form video ads are projected to hit $100 billion by 2025.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E-commerce: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Social commerce is on the rise, with approximately 65% of social media users making purchases directly through platforms like Facebook, Instagram, and TikTok. The global social commerce market is projected to reach $1.2 trillion by 2025.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Customer Service: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dirty="0"/>
              <a:t> Many companies are leveraging social media to provide more responsive customer service, with some businesses reporting a 30% faster response time compared to traditional channels like email or phone calls. Some brands are even using social media to proactively address issues before they escalate. 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512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3F7B-A644-A079-5D21-77474CEED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940" y="300318"/>
            <a:ext cx="9404723" cy="918882"/>
          </a:xfrm>
        </p:spPr>
        <p:txBody>
          <a:bodyPr/>
          <a:lstStyle/>
          <a:p>
            <a:pPr algn="ctr"/>
            <a:r>
              <a:rPr lang="en-US" b="1" u="sng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0D4B4-F3FD-305A-C95D-854CBE798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842" y="1219200"/>
            <a:ext cx="11876315" cy="548640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Invest in video content creation: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/>
              <a:t>Prioritize creating engaging, authentic short-form videos for platforms like TikTok, Instagram Reels, and YouTube Shorts. Consider longer formats for in-depth storytelling or tutorials where appropriate.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500" b="1" dirty="0">
                <a:solidFill>
                  <a:srgbClr val="FF0000"/>
                </a:solidFill>
              </a:rPr>
              <a:t>Target platforms strategically based on age: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/>
              <a:t>Focus on Instagram and TikTok for younger audiences, while Facebook remains a strong option for broader demographics and older users.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500" b="1" dirty="0">
                <a:solidFill>
                  <a:srgbClr val="FF0000"/>
                </a:solidFill>
              </a:rPr>
              <a:t>Utilize social commerce features: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/>
              <a:t>Integrate shopping features and explore shoppable posts and live shopping events to capitalize on the growing trend of in-app purchases.</a:t>
            </a:r>
          </a:p>
          <a:p>
            <a:pPr marL="0" lvl="0" indent="0">
              <a:buClr>
                <a:schemeClr val="tx1"/>
              </a:buClr>
              <a:buSzPct val="100000"/>
              <a:buNone/>
            </a:pPr>
            <a:r>
              <a:rPr lang="en-US" sz="3200" b="1" dirty="0">
                <a:solidFill>
                  <a:srgbClr val="FF0000"/>
                </a:solidFill>
              </a:rPr>
              <a:t>Track analytics and refine strategies: </a:t>
            </a:r>
          </a:p>
          <a:p>
            <a:pPr lvl="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/>
              <a:t>Monitor key performance indicators (KPIs) like average watch time, retention rates, and conversion rates to understand what resonates with your audience and adjust your content and strategies accordingly. </a:t>
            </a:r>
          </a:p>
          <a:p>
            <a:pPr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336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78640-B2FA-3D0E-D456-900B6F7FE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444" y="343861"/>
            <a:ext cx="9404723" cy="929768"/>
          </a:xfrm>
        </p:spPr>
        <p:txBody>
          <a:bodyPr/>
          <a:lstStyle/>
          <a:p>
            <a:pPr algn="ctr"/>
            <a:r>
              <a:rPr lang="en-US" b="1" u="sng" dirty="0"/>
              <a:t>Conclusion</a:t>
            </a:r>
            <a:r>
              <a:rPr lang="en-US" u="sng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18B3E-5E56-6204-DD1A-99583186D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73" y="1626453"/>
            <a:ext cx="9990212" cy="4887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Social media is a dynamic and rapidly evolving space. To remain competitive in 2025, businesses must adapt their strategies, embracing trends like video dominance, social commerce, and personalized engagement. By prioritizing authenticity, data-driven approaches, and platform-specific content, businesses can connect more deeply with their audiences and achieve sustainable growth in the ever-changing digital landscape. 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363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903C554-F9BF-9890-3205-2E0A256C6E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8638119"/>
              </p:ext>
            </p:extLst>
          </p:nvPr>
        </p:nvGraphicFramePr>
        <p:xfrm>
          <a:off x="-936172" y="1513112"/>
          <a:ext cx="6836229" cy="52514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6F33C66-6862-3305-78E7-361BB7C299A4}"/>
              </a:ext>
            </a:extLst>
          </p:cNvPr>
          <p:cNvSpPr txBox="1"/>
          <p:nvPr/>
        </p:nvSpPr>
        <p:spPr>
          <a:xfrm>
            <a:off x="402771" y="396641"/>
            <a:ext cx="8599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>
                <a:solidFill>
                  <a:srgbClr val="FFFF00"/>
                </a:solidFill>
              </a:rPr>
              <a:t>What is the percentages used by different platforms?</a:t>
            </a:r>
          </a:p>
          <a:p>
            <a:pPr marL="342900" indent="-342900">
              <a:buAutoNum type="arabicPeriod"/>
            </a:pPr>
            <a:r>
              <a:rPr lang="en-US" b="1" dirty="0">
                <a:solidFill>
                  <a:srgbClr val="FFFF00"/>
                </a:solidFill>
              </a:rPr>
              <a:t>What is the age group breakdown in social media trends?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FAFA33DC-6844-5097-01CE-7C89E5E63E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5922962"/>
              </p:ext>
            </p:extLst>
          </p:nvPr>
        </p:nvGraphicFramePr>
        <p:xfrm>
          <a:off x="4864101" y="1891774"/>
          <a:ext cx="7055755" cy="4872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EC253FDF-975C-64AD-A6D8-181A52B0668A}"/>
              </a:ext>
            </a:extLst>
          </p:cNvPr>
          <p:cNvSpPr txBox="1"/>
          <p:nvPr/>
        </p:nvSpPr>
        <p:spPr>
          <a:xfrm>
            <a:off x="5551714" y="1600200"/>
            <a:ext cx="6161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B0F0"/>
                </a:solidFill>
              </a:rPr>
              <a:t>2. Age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sz="2000" b="1" dirty="0">
                <a:solidFill>
                  <a:srgbClr val="00B0F0"/>
                </a:solidFill>
              </a:rPr>
              <a:t>group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sz="2000" b="1" dirty="0">
                <a:solidFill>
                  <a:srgbClr val="00B0F0"/>
                </a:solidFill>
              </a:rPr>
              <a:t>breakdown</a:t>
            </a:r>
            <a:endParaRPr 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7498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4776E84-3A7D-C181-361F-0833088412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067060"/>
              </p:ext>
            </p:extLst>
          </p:nvPr>
        </p:nvGraphicFramePr>
        <p:xfrm>
          <a:off x="1752601" y="1709058"/>
          <a:ext cx="7609114" cy="4636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C8DC492-4631-21A3-9637-BE072E1CEF1D}"/>
              </a:ext>
            </a:extLst>
          </p:cNvPr>
          <p:cNvSpPr txBox="1"/>
          <p:nvPr/>
        </p:nvSpPr>
        <p:spPr>
          <a:xfrm>
            <a:off x="2155372" y="1134050"/>
            <a:ext cx="76091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</a:rPr>
              <a:t>3. Growth of video content over past 3 years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514304-4C4E-0ECA-45E1-B39655BA751B}"/>
              </a:ext>
            </a:extLst>
          </p:cNvPr>
          <p:cNvSpPr txBox="1"/>
          <p:nvPr/>
        </p:nvSpPr>
        <p:spPr>
          <a:xfrm>
            <a:off x="827314" y="312822"/>
            <a:ext cx="6760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3.What is the growth of video content over past 3 years.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999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82CC-E494-9EF6-C9AC-D2B5F9B0A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2340429"/>
            <a:ext cx="10119860" cy="4223657"/>
          </a:xfrm>
        </p:spPr>
        <p:txBody>
          <a:bodyPr/>
          <a:lstStyle/>
          <a:p>
            <a:pPr algn="ctr"/>
            <a:r>
              <a:rPr lang="en-US" sz="11500" b="1" u="sng" dirty="0">
                <a:solidFill>
                  <a:srgbClr val="FF0000"/>
                </a:solidFill>
              </a:rPr>
              <a:t>Thank</a:t>
            </a:r>
            <a:r>
              <a:rPr lang="en-US" sz="11500" b="1" dirty="0"/>
              <a:t> </a:t>
            </a:r>
            <a:r>
              <a:rPr lang="en-US" sz="11500" b="1" u="sng" dirty="0">
                <a:solidFill>
                  <a:srgbClr val="FF0000"/>
                </a:solidFill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2900369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6000" advClick="0" advTm="200">
        <p:blinds dir="vert"/>
      </p:transition>
    </mc:Choice>
    <mc:Fallback xmlns="">
      <p:transition spd="slow" advClick="0" advTm="200">
        <p:blinds dir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982</TotalTime>
  <Words>1225</Words>
  <Application>Microsoft Office PowerPoint</Application>
  <PresentationFormat>Widescreen</PresentationFormat>
  <Paragraphs>93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Century Gothic</vt:lpstr>
      <vt:lpstr>Wingdings</vt:lpstr>
      <vt:lpstr>Wingdings 3</vt:lpstr>
      <vt:lpstr>Ion</vt:lpstr>
      <vt:lpstr>SOCIAL MEDIA USAGE TRENDS IN 2025 </vt:lpstr>
      <vt:lpstr>Introduction </vt:lpstr>
      <vt:lpstr>PowerPoint Presentation</vt:lpstr>
      <vt:lpstr>Key Statistics</vt:lpstr>
      <vt:lpstr>PowerPoint Presentation</vt:lpstr>
      <vt:lpstr>Age Group Breakdown</vt:lpstr>
      <vt:lpstr>PowerPoint Presentation</vt:lpstr>
      <vt:lpstr>Business Impact</vt:lpstr>
      <vt:lpstr>Recommendations</vt:lpstr>
      <vt:lpstr>Conclusion 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khushi gupta</dc:creator>
  <cp:lastModifiedBy>khushi gupta</cp:lastModifiedBy>
  <cp:revision>9</cp:revision>
  <dcterms:created xsi:type="dcterms:W3CDTF">2025-07-15T02:44:32Z</dcterms:created>
  <dcterms:modified xsi:type="dcterms:W3CDTF">2026-06-27T18:06:27Z</dcterms:modified>
</cp:coreProperties>
</file>