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38" r:id="rId1"/>
  </p:sldMasterIdLst>
  <p:sldIdLst>
    <p:sldId id="256" r:id="rId2"/>
    <p:sldId id="262" r:id="rId3"/>
    <p:sldId id="263" r:id="rId4"/>
    <p:sldId id="264" r:id="rId5"/>
    <p:sldId id="265" r:id="rId6"/>
    <p:sldId id="266" r:id="rId7"/>
    <p:sldId id="267" r:id="rId8"/>
    <p:sldId id="268" r:id="rId9"/>
    <p:sldId id="270" r:id="rId10"/>
    <p:sldId id="271" r:id="rId11"/>
    <p:sldId id="272" r:id="rId12"/>
    <p:sldId id="273" r:id="rId13"/>
    <p:sldId id="275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FFFD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1" d="100"/>
          <a:sy n="81" d="100"/>
        </p:scale>
        <p:origin x="120" y="5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Book1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2000" b="1" i="0" u="none" strike="noStrike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lang="en-US" sz="2000" b="1" dirty="0">
                <a:solidFill>
                  <a:schemeClr val="tx1"/>
                </a:solidFill>
              </a:rPr>
              <a:t>1. Platform</a:t>
            </a:r>
            <a:r>
              <a:rPr lang="en-US" sz="2000" b="1" baseline="0" dirty="0">
                <a:solidFill>
                  <a:schemeClr val="tx1"/>
                </a:solidFill>
              </a:rPr>
              <a:t> Usage Percentages </a:t>
            </a:r>
            <a:endParaRPr lang="en-US" sz="2000" b="1" dirty="0">
              <a:solidFill>
                <a:schemeClr val="tx1"/>
              </a:solidFill>
            </a:endParaRPr>
          </a:p>
        </c:rich>
      </c:tx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000" b="1" i="0" u="none" strike="noStrike" kern="1200" spc="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spPr>
            <a:solidFill>
              <a:schemeClr val="bg2"/>
            </a:solidFill>
            <a:ln>
              <a:noFill/>
            </a:ln>
          </c:spPr>
          <c:dPt>
            <c:idx val="0"/>
            <c:bubble3D val="0"/>
            <c:spPr>
              <a:solidFill>
                <a:schemeClr val="accent5"/>
              </a:solidFill>
              <a:ln w="19050"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5-9E10-4237-910A-60A0C478E592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2-9E10-4237-910A-60A0C478E592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3-9E10-4237-910A-60A0C478E592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 w="19050"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4-9E10-4237-910A-60A0C478E592}"/>
              </c:ext>
            </c:extLst>
          </c:dPt>
          <c:dLbls>
            <c:dLbl>
              <c:idx val="0"/>
              <c:layout>
                <c:manualLayout>
                  <c:x val="-0.19527308441140359"/>
                  <c:y val="0.13825776701003681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noAutofit/>
                </a:bodyPr>
                <a:lstStyle/>
                <a:p>
                  <a:pPr>
                    <a:defRPr sz="1400" b="1" i="0" u="none" strike="noStrike" kern="1200" baseline="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0"/>
              <c:showCatName val="1"/>
              <c:showSerName val="0"/>
              <c:showPercent val="1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5-9E10-4237-910A-60A0C478E592}"/>
                </c:ext>
                <c:ext xmlns:c15="http://schemas.microsoft.com/office/drawing/2012/chart" uri="{CE6537A1-D6FC-4f65-9D91-7224C49458BB}">
                  <c15:layout>
                    <c:manualLayout>
                      <c:w val="0.24883757631592041"/>
                      <c:h val="0.10151757287095907"/>
                    </c:manualLayout>
                  </c15:layout>
                </c:ext>
              </c:extLst>
            </c:dLbl>
            <c:dLbl>
              <c:idx val="1"/>
              <c:layout>
                <c:manualLayout>
                  <c:x val="-0.18713670589426176"/>
                  <c:y val="-0.21150583758928701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noAutofit/>
                </a:bodyPr>
                <a:lstStyle/>
                <a:p>
                  <a:pPr>
                    <a:defRPr sz="1400" b="1" i="0" u="none" strike="noStrike" kern="1200" baseline="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0"/>
              <c:showCatName val="1"/>
              <c:showSerName val="0"/>
              <c:showPercent val="1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2-9E10-4237-910A-60A0C478E592}"/>
                </c:ext>
                <c:ext xmlns:c15="http://schemas.microsoft.com/office/drawing/2012/chart" uri="{CE6537A1-D6FC-4f65-9D91-7224C49458BB}">
                  <c15:layout>
                    <c:manualLayout>
                      <c:w val="0.23663300854020769"/>
                      <c:h val="0.11758047997079435"/>
                    </c:manualLayout>
                  </c15:layout>
                </c:ext>
              </c:extLst>
            </c:dLbl>
            <c:dLbl>
              <c:idx val="2"/>
              <c:layout>
                <c:manualLayout>
                  <c:x val="0.18713670589426168"/>
                  <c:y val="-0.11065405324567859"/>
                </c:manualLayout>
              </c:layout>
              <c:showLegendKey val="0"/>
              <c:showVal val="0"/>
              <c:showCatName val="1"/>
              <c:showSerName val="0"/>
              <c:showPercent val="1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3-9E10-4237-910A-60A0C478E592}"/>
                </c:ext>
                <c:ext xmlns:c15="http://schemas.microsoft.com/office/drawing/2012/chart" uri="{CE6537A1-D6FC-4f65-9D91-7224C49458BB}">
                  <c15:layout>
                    <c:manualLayout>
                      <c:w val="0.2407011977987786"/>
                      <c:h val="9.6377442599011764E-2"/>
                    </c:manualLayout>
                  </c15:layout>
                </c:ext>
              </c:extLst>
            </c:dLbl>
            <c:dLbl>
              <c:idx val="3"/>
              <c:layout>
                <c:manualLayout>
                  <c:x val="0.20069733675616469"/>
                  <c:y val="0.18767242961613548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noAutofit/>
                </a:bodyPr>
                <a:lstStyle/>
                <a:p>
                  <a:pPr>
                    <a:defRPr sz="1400" b="1" i="0" u="none" strike="noStrike" kern="1200" baseline="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0"/>
              <c:showCatName val="1"/>
              <c:showSerName val="0"/>
              <c:showPercent val="1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4-9E10-4237-910A-60A0C478E592}"/>
                </c:ext>
                <c:ext xmlns:c15="http://schemas.microsoft.com/office/drawing/2012/chart" uri="{CE6537A1-D6FC-4f65-9D91-7224C49458BB}">
                  <c15:layout>
                    <c:manualLayout>
                      <c:w val="0.18781473743735683"/>
                      <c:h val="0.1587015221463727"/>
                    </c:manualLayout>
                  </c15:layout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400" b="1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 xmlns:c16r2="http://schemas.microsoft.com/office/drawing/2015/06/chart">
              <c:ext xmlns:c15="http://schemas.microsoft.com/office/drawing/2012/chart" uri="{CE6537A1-D6FC-4f65-9D91-7224C49458BB}"/>
            </c:extLst>
          </c:dLbls>
          <c:cat>
            <c:strRef>
              <c:f>Sheet1!$A$2:$A$5</c:f>
              <c:strCache>
                <c:ptCount val="4"/>
                <c:pt idx="0">
                  <c:v>WhatsApp</c:v>
                </c:pt>
                <c:pt idx="1">
                  <c:v>Instagram </c:v>
                </c:pt>
                <c:pt idx="2">
                  <c:v>Facebook</c:v>
                </c:pt>
                <c:pt idx="3">
                  <c:v>Tik Tok</c:v>
                </c:pt>
              </c:strCache>
            </c:strRef>
          </c:cat>
          <c:val>
            <c:numRef>
              <c:f>Sheet1!$B$2:$B$5</c:f>
              <c:numCache>
                <c:formatCode>0%</c:formatCode>
                <c:ptCount val="4"/>
                <c:pt idx="0">
                  <c:v>0.8</c:v>
                </c:pt>
                <c:pt idx="1">
                  <c:v>0.7</c:v>
                </c:pt>
                <c:pt idx="2">
                  <c:v>0.65</c:v>
                </c:pt>
                <c:pt idx="3">
                  <c:v>0.6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0-9E10-4237-910A-60A0C478E592}"/>
            </c:ext>
          </c:extLst>
        </c:ser>
        <c:dLbls>
          <c:showLegendKey val="0"/>
          <c:showVal val="0"/>
          <c:showCatName val="1"/>
          <c:showSerName val="0"/>
          <c:showPercent val="1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showDLblsOverMax val="0"/>
    <c:extLst xmlns:c16r2="http://schemas.microsoft.com/office/drawing/2015/06/chart"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3"/>
          <c:order val="3"/>
          <c:tx>
            <c:v>Series 1</c:v>
          </c:tx>
          <c:spPr>
            <a:solidFill>
              <a:srgbClr val="C00000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chemeClr val="bg2">
                  <a:lumMod val="60000"/>
                  <a:lumOff val="40000"/>
                </a:schemeClr>
              </a:solidFill>
              <a:ln>
                <a:noFill/>
              </a:ln>
              <a:effectLst/>
            </c:spPr>
          </c:dPt>
          <c:dPt>
            <c:idx val="1"/>
            <c:invertIfNegative val="0"/>
            <c:bubble3D val="0"/>
            <c:spPr>
              <a:solidFill>
                <a:schemeClr val="bg2">
                  <a:lumMod val="60000"/>
                  <a:lumOff val="40000"/>
                </a:schemeClr>
              </a:solidFill>
              <a:ln>
                <a:noFill/>
              </a:ln>
              <a:effectLst/>
            </c:spPr>
          </c:dPt>
          <c:dPt>
            <c:idx val="2"/>
            <c:invertIfNegative val="0"/>
            <c:bubble3D val="0"/>
            <c:spPr>
              <a:solidFill>
                <a:schemeClr val="accent2"/>
              </a:solidFill>
              <a:ln>
                <a:noFill/>
              </a:ln>
              <a:effectLst/>
            </c:spPr>
          </c:dPt>
          <c:dPt>
            <c:idx val="3"/>
            <c:invertIfNegative val="0"/>
            <c:bubble3D val="0"/>
            <c:spPr>
              <a:solidFill>
                <a:schemeClr val="accent2"/>
              </a:solidFill>
              <a:ln>
                <a:noFill/>
              </a:ln>
              <a:effectLst/>
            </c:spPr>
          </c:dPt>
          <c:dPt>
            <c:idx val="4"/>
            <c:invertIfNegative val="0"/>
            <c:bubble3D val="0"/>
            <c:spPr>
              <a:solidFill>
                <a:schemeClr val="accent2"/>
              </a:solidFill>
              <a:ln>
                <a:noFill/>
              </a:ln>
              <a:effectLst/>
            </c:spPr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4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(Sheet1!$C$5,Sheet1!$C$7,Sheet1!$C$9,Sheet1!$C$11,Sheet1!$C$13)</c:f>
              <c:strCache>
                <c:ptCount val="5"/>
                <c:pt idx="0">
                  <c:v>Ages 13-18:</c:v>
                </c:pt>
                <c:pt idx="1">
                  <c:v>Ages 19-29:</c:v>
                </c:pt>
                <c:pt idx="2">
                  <c:v>Ages 30-45:</c:v>
                </c:pt>
                <c:pt idx="3">
                  <c:v>Ages 46-60: </c:v>
                </c:pt>
                <c:pt idx="4">
                  <c:v>Ages 60+: </c:v>
                </c:pt>
              </c:strCache>
              <c:extLst xmlns:c16r2="http://schemas.microsoft.com/office/drawing/2015/06/chart"/>
            </c:strRef>
          </c:cat>
          <c:val>
            <c:numRef>
              <c:f>(Sheet1!$G$5,Sheet1!$G$7,Sheet1!$G$9,Sheet1!$G$11,Sheet1!$G$13)</c:f>
              <c:numCache>
                <c:formatCode>0%</c:formatCode>
                <c:ptCount val="5"/>
                <c:pt idx="0">
                  <c:v>0.92</c:v>
                </c:pt>
                <c:pt idx="1">
                  <c:v>0.88</c:v>
                </c:pt>
                <c:pt idx="2">
                  <c:v>0.76</c:v>
                </c:pt>
                <c:pt idx="3">
                  <c:v>0.54</c:v>
                </c:pt>
                <c:pt idx="4">
                  <c:v>0.31</c:v>
                </c:pt>
              </c:numCache>
              <c:extLst xmlns:c16r2="http://schemas.microsoft.com/office/drawing/2015/06/chart"/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0-BCE3-406E-AB30-FA93458BD443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75"/>
        <c:axId val="-805118192"/>
        <c:axId val="-805128528"/>
        <c:extLst xmlns:c16r2="http://schemas.microsoft.com/office/drawing/2015/06/chart">
          <c:ext xmlns:c15="http://schemas.microsoft.com/office/drawing/2012/chart" uri="{02D57815-91ED-43cb-92C2-25804820EDAC}">
            <c15:filteredBarSeries>
              <c15:ser>
                <c:idx val="0"/>
                <c:order val="0"/>
                <c:spPr>
                  <a:solidFill>
                    <a:schemeClr val="accent1"/>
                  </a:solidFill>
                  <a:ln>
                    <a:noFill/>
                  </a:ln>
                  <a:effectLst/>
                </c:spPr>
                <c:invertIfNegative val="0"/>
                <c:dLbls>
                  <c:spPr>
                    <a:noFill/>
                    <a:ln>
                      <a:noFill/>
                    </a:ln>
                    <a:effectLst/>
                  </c:spPr>
                  <c:txPr>
                    <a:bodyPr rot="0" spcFirstLastPara="1" vertOverflow="ellipsis" vert="horz" wrap="square" lIns="38100" tIns="19050" rIns="38100" bIns="19050" anchor="ctr" anchorCtr="1">
                      <a:spAutoFit/>
                    </a:bodyPr>
                    <a:lstStyle/>
                    <a:p>
                      <a:pPr>
                        <a:defRPr sz="900" b="0" i="0" u="none" strike="noStrike" kern="120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pPr>
                      <a:endParaRPr lang="en-US"/>
                    </a:p>
                  </c:txPr>
                  <c:showLegendKey val="0"/>
                  <c:showVal val="1"/>
                  <c:showCatName val="0"/>
                  <c:showSerName val="0"/>
                  <c:showPercent val="0"/>
                  <c:showBubbleSize val="0"/>
                  <c:showLeaderLines val="0"/>
                  <c:extLst xmlns:c16r2="http://schemas.microsoft.com/office/drawing/2015/06/chart">
                    <c:ext uri="{CE6537A1-D6FC-4f65-9D91-7224C49458BB}">
                      <c15:showLeaderLines val="1"/>
                      <c15:leaderLines>
                        <c:spPr>
                          <a:ln w="9525" cap="flat" cmpd="sng" algn="ctr">
                            <a:solidFill>
                              <a:schemeClr val="tx1">
                                <a:lumMod val="35000"/>
                                <a:lumOff val="65000"/>
                              </a:schemeClr>
                            </a:solidFill>
                            <a:round/>
                          </a:ln>
                          <a:effectLst/>
                        </c:spPr>
                      </c15:leaderLines>
                    </c:ext>
                  </c:extLst>
                </c:dLbls>
                <c:cat>
                  <c:strRef>
                    <c:extLst xmlns:c16r2="http://schemas.microsoft.com/office/drawing/2015/06/chart">
                      <c:ext uri="{02D57815-91ED-43cb-92C2-25804820EDAC}">
                        <c15:formulaRef>
                          <c15:sqref>(Sheet1!$C$5,Sheet1!$C$7,Sheet1!$C$9,Sheet1!$C$11,Sheet1!$C$13)</c15:sqref>
                        </c15:formulaRef>
                      </c:ext>
                    </c:extLst>
                    <c:strCache>
                      <c:ptCount val="5"/>
                      <c:pt idx="0">
                        <c:v>Ages 13-18:</c:v>
                      </c:pt>
                      <c:pt idx="1">
                        <c:v>Ages 19-29:</c:v>
                      </c:pt>
                      <c:pt idx="2">
                        <c:v>Ages 30-45:</c:v>
                      </c:pt>
                      <c:pt idx="3">
                        <c:v>Ages 46-60: </c:v>
                      </c:pt>
                      <c:pt idx="4">
                        <c:v>Ages 60+: </c:v>
                      </c:pt>
                    </c:strCache>
                  </c:strRef>
                </c:cat>
                <c:val>
                  <c:numRef>
                    <c:extLst xmlns:c16r2="http://schemas.microsoft.com/office/drawing/2015/06/chart">
                      <c:ext uri="{02D57815-91ED-43cb-92C2-25804820EDAC}">
                        <c15:formulaRef>
                          <c15:sqref>(Sheet1!$D$5,Sheet1!$D$7,Sheet1!$D$9,Sheet1!$D$11,Sheet1!$D$13)</c15:sqref>
                        </c15:formulaRef>
                      </c:ext>
                    </c:extLst>
                    <c:numCache>
                      <c:formatCode>General</c:formatCode>
                      <c:ptCount val="5"/>
                    </c:numCache>
                  </c:numRef>
                </c:val>
                <c:extLst xmlns:c16r2="http://schemas.microsoft.com/office/drawing/2015/06/chart">
                  <c:ext xmlns:c16="http://schemas.microsoft.com/office/drawing/2014/chart" uri="{C3380CC4-5D6E-409C-BE32-E72D297353CC}">
                    <c16:uniqueId val="{00000001-BCE3-406E-AB30-FA93458BD443}"/>
                  </c:ext>
                </c:extLst>
              </c15:ser>
            </c15:filteredBarSeries>
            <c15:filteredBarSeries>
              <c15:ser>
                <c:idx val="1"/>
                <c:order val="1"/>
                <c:spPr>
                  <a:solidFill>
                    <a:schemeClr val="accent2"/>
                  </a:solidFill>
                  <a:ln>
                    <a:noFill/>
                  </a:ln>
                  <a:effectLst/>
                </c:spPr>
                <c:invertIfNegative val="0"/>
                <c:dLbls>
                  <c:spPr>
                    <a:noFill/>
                    <a:ln>
                      <a:noFill/>
                    </a:ln>
                    <a:effectLst/>
                  </c:spPr>
                  <c:txPr>
                    <a:bodyPr rot="0" spcFirstLastPara="1" vertOverflow="ellipsis" vert="horz" wrap="square" lIns="38100" tIns="19050" rIns="38100" bIns="19050" anchor="ctr" anchorCtr="1">
                      <a:spAutoFit/>
                    </a:bodyPr>
                    <a:lstStyle/>
                    <a:p>
                      <a:pPr>
                        <a:defRPr sz="900" b="0" i="0" u="none" strike="noStrike" kern="120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pPr>
                      <a:endParaRPr lang="en-US"/>
                    </a:p>
                  </c:txPr>
                  <c:showLegendKey val="0"/>
                  <c:showVal val="1"/>
                  <c:showCatName val="0"/>
                  <c:showSerName val="0"/>
                  <c:showPercent val="0"/>
                  <c:showBubbleSize val="0"/>
                  <c:showLeaderLines val="0"/>
                  <c:extLst xmlns:c16r2="http://schemas.microsoft.com/office/drawing/2015/06/chart" xmlns:c15="http://schemas.microsoft.com/office/drawing/2012/chart">
                    <c:ext xmlns:c15="http://schemas.microsoft.com/office/drawing/2012/chart" uri="{CE6537A1-D6FC-4f65-9D91-7224C49458BB}">
                      <c15:showLeaderLines val="1"/>
                      <c15:leaderLines>
                        <c:spPr>
                          <a:ln w="9525" cap="flat" cmpd="sng" algn="ctr">
                            <a:solidFill>
                              <a:schemeClr val="tx1">
                                <a:lumMod val="35000"/>
                                <a:lumOff val="65000"/>
                              </a:schemeClr>
                            </a:solidFill>
                            <a:round/>
                          </a:ln>
                          <a:effectLst/>
                        </c:spPr>
                      </c15:leaderLines>
                    </c:ext>
                  </c:extLst>
                </c:dLbls>
                <c:cat>
                  <c:strRef>
                    <c:extLst xmlns:c16r2="http://schemas.microsoft.com/office/drawing/2015/06/chart"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(Sheet1!$C$5,Sheet1!$C$7,Sheet1!$C$9,Sheet1!$C$11,Sheet1!$C$13)</c15:sqref>
                        </c15:formulaRef>
                      </c:ext>
                    </c:extLst>
                    <c:strCache>
                      <c:ptCount val="5"/>
                      <c:pt idx="0">
                        <c:v>Ages 13-18:</c:v>
                      </c:pt>
                      <c:pt idx="1">
                        <c:v>Ages 19-29:</c:v>
                      </c:pt>
                      <c:pt idx="2">
                        <c:v>Ages 30-45:</c:v>
                      </c:pt>
                      <c:pt idx="3">
                        <c:v>Ages 46-60: </c:v>
                      </c:pt>
                      <c:pt idx="4">
                        <c:v>Ages 60+: </c:v>
                      </c:pt>
                    </c:strCache>
                  </c:strRef>
                </c:cat>
                <c:val>
                  <c:numRef>
                    <c:extLst xmlns:c16r2="http://schemas.microsoft.com/office/drawing/2015/06/chart"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(Sheet1!$E$5,Sheet1!$E$7,Sheet1!$E$9,Sheet1!$E$11,Sheet1!$E$13)</c15:sqref>
                        </c15:formulaRef>
                      </c:ext>
                    </c:extLst>
                    <c:numCache>
                      <c:formatCode>General</c:formatCode>
                      <c:ptCount val="5"/>
                    </c:numCache>
                  </c:numRef>
                </c:val>
                <c:extLst xmlns:c16r2="http://schemas.microsoft.com/office/drawing/2015/06/chart" xmlns:c15="http://schemas.microsoft.com/office/drawing/2012/chart">
                  <c:ext xmlns:c16="http://schemas.microsoft.com/office/drawing/2014/chart" uri="{C3380CC4-5D6E-409C-BE32-E72D297353CC}">
                    <c16:uniqueId val="{00000002-BCE3-406E-AB30-FA93458BD443}"/>
                  </c:ext>
                </c:extLst>
              </c15:ser>
            </c15:filteredBarSeries>
            <c15:filteredBarSeries>
              <c15:ser>
                <c:idx val="2"/>
                <c:order val="2"/>
                <c:spPr>
                  <a:solidFill>
                    <a:schemeClr val="accent3"/>
                  </a:solidFill>
                  <a:ln>
                    <a:noFill/>
                  </a:ln>
                  <a:effectLst/>
                </c:spPr>
                <c:invertIfNegative val="0"/>
                <c:dLbls>
                  <c:spPr>
                    <a:noFill/>
                    <a:ln>
                      <a:noFill/>
                    </a:ln>
                    <a:effectLst/>
                  </c:spPr>
                  <c:txPr>
                    <a:bodyPr rot="0" spcFirstLastPara="1" vertOverflow="ellipsis" vert="horz" wrap="square" lIns="38100" tIns="19050" rIns="38100" bIns="19050" anchor="ctr" anchorCtr="1">
                      <a:spAutoFit/>
                    </a:bodyPr>
                    <a:lstStyle/>
                    <a:p>
                      <a:pPr>
                        <a:defRPr sz="900" b="0" i="0" u="none" strike="noStrike" kern="120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pPr>
                      <a:endParaRPr lang="en-US"/>
                    </a:p>
                  </c:txPr>
                  <c:showLegendKey val="0"/>
                  <c:showVal val="1"/>
                  <c:showCatName val="0"/>
                  <c:showSerName val="0"/>
                  <c:showPercent val="0"/>
                  <c:showBubbleSize val="0"/>
                  <c:showLeaderLines val="0"/>
                  <c:extLst xmlns:c16r2="http://schemas.microsoft.com/office/drawing/2015/06/chart" xmlns:c15="http://schemas.microsoft.com/office/drawing/2012/chart">
                    <c:ext xmlns:c15="http://schemas.microsoft.com/office/drawing/2012/chart" uri="{CE6537A1-D6FC-4f65-9D91-7224C49458BB}">
                      <c15:showLeaderLines val="1"/>
                      <c15:leaderLines>
                        <c:spPr>
                          <a:ln w="9525" cap="flat" cmpd="sng" algn="ctr">
                            <a:solidFill>
                              <a:schemeClr val="tx1">
                                <a:lumMod val="35000"/>
                                <a:lumOff val="65000"/>
                              </a:schemeClr>
                            </a:solidFill>
                            <a:round/>
                          </a:ln>
                          <a:effectLst/>
                        </c:spPr>
                      </c15:leaderLines>
                    </c:ext>
                  </c:extLst>
                </c:dLbls>
                <c:cat>
                  <c:strRef>
                    <c:extLst xmlns:c16r2="http://schemas.microsoft.com/office/drawing/2015/06/chart"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(Sheet1!$C$5,Sheet1!$C$7,Sheet1!$C$9,Sheet1!$C$11,Sheet1!$C$13)</c15:sqref>
                        </c15:formulaRef>
                      </c:ext>
                    </c:extLst>
                    <c:strCache>
                      <c:ptCount val="5"/>
                      <c:pt idx="0">
                        <c:v>Ages 13-18:</c:v>
                      </c:pt>
                      <c:pt idx="1">
                        <c:v>Ages 19-29:</c:v>
                      </c:pt>
                      <c:pt idx="2">
                        <c:v>Ages 30-45:</c:v>
                      </c:pt>
                      <c:pt idx="3">
                        <c:v>Ages 46-60: </c:v>
                      </c:pt>
                      <c:pt idx="4">
                        <c:v>Ages 60+: </c:v>
                      </c:pt>
                    </c:strCache>
                  </c:strRef>
                </c:cat>
                <c:val>
                  <c:numRef>
                    <c:extLst xmlns:c16r2="http://schemas.microsoft.com/office/drawing/2015/06/chart"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(Sheet1!$F$5,Sheet1!$F$7,Sheet1!$F$9,Sheet1!$F$11,Sheet1!$F$13)</c15:sqref>
                        </c15:formulaRef>
                      </c:ext>
                    </c:extLst>
                    <c:numCache>
                      <c:formatCode>General</c:formatCode>
                      <c:ptCount val="5"/>
                    </c:numCache>
                  </c:numRef>
                </c:val>
                <c:extLst xmlns:c16r2="http://schemas.microsoft.com/office/drawing/2015/06/chart" xmlns:c15="http://schemas.microsoft.com/office/drawing/2012/chart">
                  <c:ext xmlns:c16="http://schemas.microsoft.com/office/drawing/2014/chart" uri="{C3380CC4-5D6E-409C-BE32-E72D297353CC}">
                    <c16:uniqueId val="{00000003-BCE3-406E-AB30-FA93458BD443}"/>
                  </c:ext>
                </c:extLst>
              </c15:ser>
            </c15:filteredBarSeries>
          </c:ext>
        </c:extLst>
      </c:barChart>
      <c:catAx>
        <c:axId val="-80511819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1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-805128528"/>
        <c:crosses val="autoZero"/>
        <c:auto val="1"/>
        <c:lblAlgn val="ctr"/>
        <c:lblOffset val="100"/>
        <c:noMultiLvlLbl val="0"/>
      </c:catAx>
      <c:valAx>
        <c:axId val="-805128528"/>
        <c:scaling>
          <c:orientation val="minMax"/>
        </c:scaling>
        <c:delete val="0"/>
        <c:axPos val="l"/>
        <c:numFmt formatCode="0%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1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-805118192"/>
        <c:crosses val="autoZero"/>
        <c:crossBetween val="between"/>
      </c:valAx>
      <c:spPr>
        <a:noFill/>
        <a:ln>
          <a:solidFill>
            <a:schemeClr val="tx1">
              <a:lumMod val="65000"/>
            </a:schemeClr>
          </a:solidFill>
        </a:ln>
        <a:effectLst/>
      </c:spPr>
    </c:plotArea>
    <c:plotVisOnly val="1"/>
    <c:dispBlanksAs val="gap"/>
    <c:showDLblsOverMax val="0"/>
    <c:extLst xmlns:c16r2="http://schemas.microsoft.com/office/drawing/2015/06/chart"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solidFill>
            <a:schemeClr val="tx1"/>
          </a:solidFill>
        </a:defRPr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TikTok</c:v>
                </c:pt>
              </c:strCache>
            </c:strRef>
          </c:tx>
          <c:spPr>
            <a:ln w="38100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7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4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Sheet1!$A$2:$A$5</c:f>
              <c:numCache>
                <c:formatCode>General</c:formatCode>
                <c:ptCount val="4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</c:numCache>
            </c:numRef>
          </c:cat>
          <c:val>
            <c:numRef>
              <c:f>Sheet1!$B$2:$B$5</c:f>
              <c:numCache>
                <c:formatCode>General</c:formatCode>
                <c:ptCount val="4"/>
                <c:pt idx="0">
                  <c:v>33.299999999999997</c:v>
                </c:pt>
                <c:pt idx="1">
                  <c:v>35.799999999999997</c:v>
                </c:pt>
                <c:pt idx="2">
                  <c:v>37.799999999999997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Instagram </c:v>
                </c:pt>
              </c:strCache>
            </c:strRef>
          </c:tx>
          <c:spPr>
            <a:ln w="38100" cap="rnd">
              <a:solidFill>
                <a:schemeClr val="accent2"/>
              </a:solidFill>
              <a:round/>
            </a:ln>
            <a:effectLst/>
          </c:spPr>
          <c:marker>
            <c:symbol val="circle"/>
            <c:size val="7"/>
            <c:spPr>
              <a:solidFill>
                <a:schemeClr val="accent2"/>
              </a:solidFill>
              <a:ln w="9525">
                <a:solidFill>
                  <a:schemeClr val="accent2"/>
                </a:solidFill>
              </a:ln>
              <a:effectLst/>
            </c:spPr>
          </c:marker>
          <c:dLbls>
            <c:dLbl>
              <c:idx val="0"/>
              <c:layout/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1"/>
              <c:layout/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2"/>
              <c:layout/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4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Sheet1!$A$2:$A$5</c:f>
              <c:numCache>
                <c:formatCode>General</c:formatCode>
                <c:ptCount val="4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</c:numCache>
            </c:numRef>
          </c:cat>
          <c:val>
            <c:numRef>
              <c:f>Sheet1!$C$2:$C$5</c:f>
              <c:numCache>
                <c:formatCode>General</c:formatCode>
                <c:ptCount val="4"/>
                <c:pt idx="0">
                  <c:v>43</c:v>
                </c:pt>
                <c:pt idx="1">
                  <c:v>45.3</c:v>
                </c:pt>
                <c:pt idx="2">
                  <c:v>47.5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Facebook </c:v>
                </c:pt>
              </c:strCache>
            </c:strRef>
          </c:tx>
          <c:spPr>
            <a:ln w="38100" cap="rnd">
              <a:solidFill>
                <a:schemeClr val="accent3"/>
              </a:solidFill>
              <a:round/>
            </a:ln>
            <a:effectLst/>
          </c:spPr>
          <c:marker>
            <c:symbol val="circle"/>
            <c:size val="7"/>
            <c:spPr>
              <a:solidFill>
                <a:schemeClr val="accent3"/>
              </a:solidFill>
              <a:ln w="9525">
                <a:solidFill>
                  <a:schemeClr val="accent3"/>
                </a:solidFill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4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Sheet1!$A$2:$A$5</c:f>
              <c:numCache>
                <c:formatCode>General</c:formatCode>
                <c:ptCount val="4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</c:numCache>
            </c:numRef>
          </c:cat>
          <c:val>
            <c:numRef>
              <c:f>Sheet1!$D$2:$D$5</c:f>
              <c:numCache>
                <c:formatCode>General</c:formatCode>
                <c:ptCount val="4"/>
                <c:pt idx="0">
                  <c:v>65.7</c:v>
                </c:pt>
                <c:pt idx="1">
                  <c:v>67.7</c:v>
                </c:pt>
                <c:pt idx="2">
                  <c:v>69.400000000000006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-565698208"/>
        <c:axId val="-565690048"/>
      </c:lineChart>
      <c:catAx>
        <c:axId val="-56569820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-565690048"/>
        <c:crosses val="autoZero"/>
        <c:auto val="1"/>
        <c:lblAlgn val="ctr"/>
        <c:lblOffset val="100"/>
        <c:noMultiLvlLbl val="0"/>
      </c:catAx>
      <c:valAx>
        <c:axId val="-56569004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solidFill>
              <a:schemeClr val="tx1"/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-565698208"/>
        <c:crosses val="autoZero"/>
        <c:crossBetween val="between"/>
      </c:valAx>
      <c:spPr>
        <a:noFill/>
        <a:ln>
          <a:solidFill>
            <a:schemeClr val="tx1"/>
          </a:solidFill>
        </a:ln>
        <a:effectLst/>
      </c:spPr>
    </c:plotArea>
    <c:legend>
      <c:legendPos val="b"/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1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44479B-705B-4489-957E-7E8A228BDFA0}" type="datetime1">
              <a:rPr lang="en-US" smtClean="0"/>
              <a:t>9/17/2026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19001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6000" advClick="0" advTm="200">
        <p:blinds dir="vert"/>
      </p:transition>
    </mc:Choice>
    <mc:Fallback xmlns="">
      <p:transition spd="slow" advClick="0" advTm="200">
        <p:blinds dir="vert"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38F49-B3E2-4BF0-BEC7-C30D34ABBB8D}" type="datetime1">
              <a:rPr lang="en-US" smtClean="0"/>
              <a:t>9/17/2026</a:t>
            </a:fld>
            <a:endParaRPr lang="en-US" dirty="0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073171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6000" advClick="0" advTm="200">
        <p:blinds dir="vert"/>
      </p:transition>
    </mc:Choice>
    <mc:Fallback xmlns="">
      <p:transition spd="slow" advClick="0" advTm="200">
        <p:blinds dir="vert"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04452-5DCC-4FE2-A5C9-8A5EF6714D65}" type="datetime1">
              <a:rPr lang="en-US" smtClean="0"/>
              <a:t>9/17/2026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449765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6000" advClick="0" advTm="200">
        <p:blinds dir="vert"/>
      </p:transition>
    </mc:Choice>
    <mc:Fallback xmlns="">
      <p:transition spd="slow" advClick="0" advTm="200">
        <p:blinds dir="vert"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79ABC2-0180-4F3A-A895-A85BC724D472}" type="datetime1">
              <a:rPr lang="en-US" smtClean="0"/>
              <a:t>9/17/2026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46095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6000" advClick="0" advTm="200">
        <p:blinds dir="vert"/>
      </p:transition>
    </mc:Choice>
    <mc:Fallback xmlns="">
      <p:transition spd="slow" advClick="0" advTm="200">
        <p:blinds dir="vert"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EEA9BA-4E8F-439E-BEA4-91FBA01E3F5F}" type="datetime1">
              <a:rPr lang="en-US" smtClean="0"/>
              <a:t>9/17/2026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03864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6000" advClick="0" advTm="200">
        <p:blinds dir="vert"/>
      </p:transition>
    </mc:Choice>
    <mc:Fallback xmlns="">
      <p:transition spd="slow" advClick="0" advTm="200">
        <p:blinds dir="vert"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15BF18-0007-481C-AA29-413124BC3EE7}" type="datetime1">
              <a:rPr lang="en-US" smtClean="0"/>
              <a:t>9/17/2026</a:t>
            </a:fld>
            <a:endParaRPr lang="en-US" dirty="0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18717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6000" advClick="0" advTm="200">
        <p:blinds dir="vert"/>
      </p:transition>
    </mc:Choice>
    <mc:Fallback xmlns="">
      <p:transition spd="slow" advClick="0" advTm="200">
        <p:blinds dir="vert"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E9870-3748-43AD-B547-02A075CB4A1D}" type="datetime1">
              <a:rPr lang="en-US" smtClean="0"/>
              <a:t>9/17/2026</a:t>
            </a:fld>
            <a:endParaRPr lang="en-US" dirty="0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54746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6000" advClick="0" advTm="200">
        <p:blinds dir="vert"/>
      </p:transition>
    </mc:Choice>
    <mc:Fallback xmlns="">
      <p:transition spd="slow" advClick="0" advTm="200">
        <p:blinds dir="vert"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E7897-33C5-4F1A-9307-D068E37F3DC7}" type="datetime1">
              <a:rPr lang="en-US" smtClean="0"/>
              <a:t>9/17/2026</a:t>
            </a:fld>
            <a:endParaRPr lang="en-US" dirty="0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591200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6000" advClick="0" advTm="200">
        <p:blinds dir="vert"/>
      </p:transition>
    </mc:Choice>
    <mc:Fallback xmlns="">
      <p:transition spd="slow" advClick="0" advTm="200">
        <p:blinds dir="vert"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171BA-CC09-47C8-A6DF-F5C5CB59CEEC}" type="datetime1">
              <a:rPr lang="en-US" smtClean="0"/>
              <a:t>9/17/2026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140588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6000" advClick="0" advTm="200">
        <p:blinds dir="vert"/>
      </p:transition>
    </mc:Choice>
    <mc:Fallback xmlns="">
      <p:transition spd="slow" advClick="0" advTm="200">
        <p:blinds dir="vert"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38F49-B3E2-4BF0-BEC7-C30D34ABBB8D}" type="datetime1">
              <a:rPr lang="en-US" smtClean="0"/>
              <a:t>9/17/2026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23669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6000" advClick="0" advTm="200">
        <p:blinds dir="vert"/>
      </p:transition>
    </mc:Choice>
    <mc:Fallback xmlns="">
      <p:transition spd="slow" advClick="0" advTm="200">
        <p:blinds dir="vert"/>
      </p:transition>
    </mc:Fallback>
  </mc:AlternateContent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38F49-B3E2-4BF0-BEC7-C30D34ABBB8D}" type="datetime1">
              <a:rPr lang="en-US" smtClean="0"/>
              <a:t>9/17/2026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10618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6000" advClick="0" advTm="200">
        <p:blinds dir="vert"/>
      </p:transition>
    </mc:Choice>
    <mc:Fallback xmlns="">
      <p:transition spd="slow" advClick="0" advTm="200">
        <p:blinds dir="vert"/>
      </p:transition>
    </mc:Fallback>
  </mc:AlternateContent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38F49-B3E2-4BF0-BEC7-C30D34ABBB8D}" type="datetime1">
              <a:rPr lang="en-US" smtClean="0"/>
              <a:t>9/17/2026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6928423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6000" advClick="0" advTm="200">
        <p:blinds dir="vert"/>
      </p:transition>
    </mc:Choice>
    <mc:Fallback xmlns="">
      <p:transition spd="slow" advClick="0" advTm="200">
        <p:blinds dir="vert"/>
      </p:transition>
    </mc:Fallback>
  </mc:AlternateContent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38F49-B3E2-4BF0-BEC7-C30D34ABBB8D}" type="datetime1">
              <a:rPr lang="en-US" smtClean="0"/>
              <a:t>9/17/2026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98536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6000" advClick="0" advTm="200">
        <p:blinds dir="vert"/>
      </p:transition>
    </mc:Choice>
    <mc:Fallback xmlns="">
      <p:transition spd="slow" advClick="0" advTm="200">
        <p:blinds dir="vert"/>
      </p:transition>
    </mc:Fallback>
  </mc:AlternateContent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38F49-B3E2-4BF0-BEC7-C30D34ABBB8D}" type="datetime1">
              <a:rPr lang="en-US" smtClean="0"/>
              <a:t>9/17/2026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37516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6000" advClick="0" advTm="200">
        <p:blinds dir="vert"/>
      </p:transition>
    </mc:Choice>
    <mc:Fallback xmlns="">
      <p:transition spd="slow" advClick="0" advTm="200">
        <p:blinds dir="vert"/>
      </p:transition>
    </mc:Fallback>
  </mc:AlternateContent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38F49-B3E2-4BF0-BEC7-C30D34ABBB8D}" type="datetime1">
              <a:rPr lang="en-US" smtClean="0"/>
              <a:t>9/17/2026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50304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6000" advClick="0" advTm="200">
        <p:blinds dir="vert"/>
      </p:transition>
    </mc:Choice>
    <mc:Fallback xmlns="">
      <p:transition spd="slow" advClick="0" advTm="200">
        <p:blinds dir="vert"/>
      </p:transition>
    </mc:Fallback>
  </mc:AlternateContent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7B66AD-7C08-490A-ADA4-B47E10FB2407}" type="datetime1">
              <a:rPr lang="en-US" smtClean="0"/>
              <a:t>9/17/2026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600540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6000" advClick="0" advTm="200">
        <p:blinds dir="vert"/>
      </p:transition>
    </mc:Choice>
    <mc:Fallback xmlns="">
      <p:transition spd="slow" advClick="0" advTm="200">
        <p:blinds dir="vert"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95027-4255-49E7-9841-CD21BCC99996}" type="datetime1">
              <a:rPr lang="en-US" smtClean="0"/>
              <a:t>9/17/2026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77054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6000" advClick="0" advTm="200">
        <p:blinds dir="vert"/>
      </p:transition>
    </mc:Choice>
    <mc:Fallback xmlns="">
      <p:transition spd="slow" advClick="0" advTm="200">
        <p:blinds dir="vert"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7DA38F49-B3E2-4BF0-BEC7-C30D34ABBB8D}" type="datetime1">
              <a:rPr lang="en-US" smtClean="0"/>
              <a:t>9/17/2026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0C12960-6E85-460F-B6E3-5B82CB31AF3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6261323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839" r:id="rId1"/>
    <p:sldLayoutId id="2147483840" r:id="rId2"/>
    <p:sldLayoutId id="2147483841" r:id="rId3"/>
    <p:sldLayoutId id="2147483842" r:id="rId4"/>
    <p:sldLayoutId id="2147483843" r:id="rId5"/>
    <p:sldLayoutId id="2147483844" r:id="rId6"/>
    <p:sldLayoutId id="2147483845" r:id="rId7"/>
    <p:sldLayoutId id="2147483846" r:id="rId8"/>
    <p:sldLayoutId id="2147483847" r:id="rId9"/>
    <p:sldLayoutId id="2147483848" r:id="rId10"/>
    <p:sldLayoutId id="2147483849" r:id="rId11"/>
    <p:sldLayoutId id="2147483850" r:id="rId12"/>
    <p:sldLayoutId id="2147483851" r:id="rId13"/>
    <p:sldLayoutId id="2147483852" r:id="rId14"/>
    <p:sldLayoutId id="2147483853" r:id="rId15"/>
    <p:sldLayoutId id="2147483854" r:id="rId16"/>
    <p:sldLayoutId id="2147483855" r:id="rId17"/>
  </p:sldLayoutIdLst>
  <mc:AlternateContent xmlns:mc="http://schemas.openxmlformats.org/markup-compatibility/2006" xmlns:p14="http://schemas.microsoft.com/office/powerpoint/2010/main">
    <mc:Choice Requires="p14">
      <p:transition spd="slow" p14:dur="6000" advClick="0" advTm="200">
        <p:blinds dir="vert"/>
      </p:transition>
    </mc:Choice>
    <mc:Fallback xmlns="">
      <p:transition spd="slow" advClick="0" advTm="200">
        <p:blinds dir="vert"/>
      </p:transition>
    </mc:Fallback>
  </mc:AlternateConten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Network Technology Background">
            <a:extLst>
              <a:ext uri="{FF2B5EF4-FFF2-40B4-BE49-F238E27FC236}">
                <a16:creationId xmlns:a16="http://schemas.microsoft.com/office/drawing/2014/main" xmlns="" id="{7C49D53C-7303-25BD-0BCF-A1C00DB59589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40000"/>
          </a:blip>
          <a:srcRect r="9091" b="12214"/>
          <a:stretch>
            <a:fillRect/>
          </a:stretch>
        </p:blipFill>
        <p:spPr>
          <a:xfrm>
            <a:off x="20" y="152"/>
            <a:ext cx="12191980" cy="685784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xmlns="" id="{39DB3FE3-BFCD-1E1F-E64B-B7424033401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0080" y="985233"/>
            <a:ext cx="5758628" cy="3355853"/>
          </a:xfrm>
        </p:spPr>
        <p:txBody>
          <a:bodyPr anchor="t">
            <a:normAutofit/>
          </a:bodyPr>
          <a:lstStyle/>
          <a:p>
            <a:r>
              <a:rPr lang="en-US" sz="6000" b="1" dirty="0">
                <a:solidFill>
                  <a:srgbClr val="FFFFFF"/>
                </a:solidFill>
              </a:rPr>
              <a:t>SOCIAL MEDIA USAGE TRENDS IN 2025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70627584-BA02-E761-1430-41225001898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0080" y="5251621"/>
            <a:ext cx="4439920" cy="1104721"/>
          </a:xfrm>
        </p:spPr>
        <p:txBody>
          <a:bodyPr anchor="t">
            <a:normAutofit/>
          </a:bodyPr>
          <a:lstStyle/>
          <a:p>
            <a:r>
              <a:rPr lang="en-US" b="1" dirty="0">
                <a:solidFill>
                  <a:srgbClr val="FFFFFF"/>
                </a:solidFill>
              </a:rPr>
              <a:t>BY HARSHIT GUPTA </a:t>
            </a:r>
          </a:p>
        </p:txBody>
      </p:sp>
    </p:spTree>
    <p:extLst>
      <p:ext uri="{BB962C8B-B14F-4D97-AF65-F5344CB8AC3E}">
        <p14:creationId xmlns:p14="http://schemas.microsoft.com/office/powerpoint/2010/main" val="387872369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slow" p14:dur="6000" advClick="0" advTm="200">
        <p:blinds dir="vert"/>
      </p:transition>
    </mc:Choice>
    <mc:Fallback xmlns="">
      <p:transition spd="slow" advClick="0" advTm="200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71416FE9-A981-6982-E51B-25DA9E13A1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5226" y="293914"/>
            <a:ext cx="9404723" cy="810025"/>
          </a:xfrm>
        </p:spPr>
        <p:txBody>
          <a:bodyPr/>
          <a:lstStyle/>
          <a:p>
            <a:pPr algn="ctr"/>
            <a:r>
              <a:rPr lang="en-US" b="1" u="sng" dirty="0"/>
              <a:t>Introduction</a:t>
            </a: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5F669B44-4DF2-1437-B350-A64EDF2B95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299" y="1306286"/>
            <a:ext cx="11936187" cy="4928259"/>
          </a:xfrm>
        </p:spPr>
        <p:txBody>
          <a:bodyPr>
            <a:normAutofit fontScale="40000" lnSpcReduction="20000"/>
          </a:bodyPr>
          <a:lstStyle/>
          <a:p>
            <a:pPr marL="0" indent="0">
              <a:buClr>
                <a:schemeClr val="tx1"/>
              </a:buClr>
              <a:buNone/>
            </a:pPr>
            <a:r>
              <a:rPr lang="en-US" sz="9800" b="1" dirty="0"/>
              <a:t>Key Social Media Usage Trends in 2025:</a:t>
            </a:r>
          </a:p>
          <a:p>
            <a:pPr marL="0" indent="0">
              <a:buClr>
                <a:schemeClr val="tx1"/>
              </a:buClr>
              <a:buSzPct val="100000"/>
              <a:buNone/>
            </a:pPr>
            <a:r>
              <a:rPr lang="en-US" sz="5000" b="1" dirty="0">
                <a:solidFill>
                  <a:srgbClr val="7FFFD4"/>
                </a:solidFill>
              </a:rPr>
              <a:t>Short-Form Video Dominance:</a:t>
            </a:r>
          </a:p>
          <a:p>
            <a:pPr fontAlgn="ctr">
              <a:buClr>
                <a:schemeClr val="tx1"/>
              </a:buClr>
              <a:buFont typeface="Wingdings" panose="05000000000000000000" pitchFamily="2" charset="2"/>
              <a:buChar char="v"/>
            </a:pPr>
            <a:r>
              <a:rPr lang="en-US" sz="5000" dirty="0" smtClean="0"/>
              <a:t>Platforms like TikTok</a:t>
            </a:r>
            <a:r>
              <a:rPr lang="en-US" sz="5000" dirty="0"/>
              <a:t>, Instagram Reels, and YouTube Shorts </a:t>
            </a:r>
            <a:r>
              <a:rPr lang="en-US" sz="5000" dirty="0" smtClean="0"/>
              <a:t>are highly popular</a:t>
            </a:r>
            <a:r>
              <a:rPr lang="en-US" sz="5000" dirty="0"/>
              <a:t>.</a:t>
            </a:r>
            <a:r>
              <a:rPr lang="en-US" sz="5000" dirty="0" smtClean="0"/>
              <a:t> </a:t>
            </a:r>
            <a:r>
              <a:rPr lang="en-US" sz="5000" dirty="0"/>
              <a:t>B</a:t>
            </a:r>
            <a:r>
              <a:rPr lang="en-US" sz="5000" dirty="0" smtClean="0"/>
              <a:t>usinesses need to </a:t>
            </a:r>
            <a:r>
              <a:rPr lang="en-US" sz="5000" dirty="0"/>
              <a:t>create </a:t>
            </a:r>
            <a:r>
              <a:rPr lang="en-US" sz="5000" dirty="0" smtClean="0"/>
              <a:t>short, engaging video content</a:t>
            </a:r>
            <a:r>
              <a:rPr lang="en-US" sz="5000" dirty="0"/>
              <a:t>.</a:t>
            </a:r>
            <a:r>
              <a:rPr lang="en-US" sz="6200" dirty="0"/>
              <a:t> </a:t>
            </a:r>
          </a:p>
          <a:p>
            <a:pPr marL="0" indent="0">
              <a:buClr>
                <a:schemeClr val="tx1"/>
              </a:buClr>
              <a:buNone/>
            </a:pPr>
            <a:r>
              <a:rPr lang="en-US" sz="5000" b="1" dirty="0">
                <a:solidFill>
                  <a:srgbClr val="7FFFD4"/>
                </a:solidFill>
              </a:rPr>
              <a:t>Micro-Influencer</a:t>
            </a:r>
            <a:r>
              <a:rPr lang="en-US" sz="6200" b="1" dirty="0">
                <a:solidFill>
                  <a:srgbClr val="7FFFD4"/>
                </a:solidFill>
              </a:rPr>
              <a:t> </a:t>
            </a:r>
            <a:r>
              <a:rPr lang="en-US" sz="5000" b="1" dirty="0">
                <a:solidFill>
                  <a:srgbClr val="7FFFD4"/>
                </a:solidFill>
              </a:rPr>
              <a:t>Power:</a:t>
            </a:r>
          </a:p>
          <a:p>
            <a:pPr fontAlgn="ctr">
              <a:buClr>
                <a:schemeClr val="tx1"/>
              </a:buClr>
              <a:buFont typeface="Wingdings" panose="05000000000000000000" pitchFamily="2" charset="2"/>
              <a:buChar char="v"/>
            </a:pPr>
            <a:r>
              <a:rPr lang="en-US" sz="5000" dirty="0" smtClean="0"/>
              <a:t>Micro-influencers have a strong and authentic connection with their audience, which makes marketing more genuine and effective.</a:t>
            </a:r>
            <a:r>
              <a:rPr lang="en-US" sz="5000" dirty="0"/>
              <a:t> </a:t>
            </a:r>
          </a:p>
          <a:p>
            <a:pPr marL="0" indent="0">
              <a:buClr>
                <a:schemeClr val="tx1"/>
              </a:buClr>
              <a:buNone/>
            </a:pPr>
            <a:r>
              <a:rPr lang="en-US" sz="5000" b="1" dirty="0">
                <a:solidFill>
                  <a:srgbClr val="7FFFD4"/>
                </a:solidFill>
              </a:rPr>
              <a:t>Social Commerce </a:t>
            </a:r>
            <a:r>
              <a:rPr lang="en-US" sz="5000" b="1" dirty="0">
                <a:solidFill>
                  <a:srgbClr val="7FFFD4"/>
                </a:solidFill>
              </a:rPr>
              <a:t>Growth:</a:t>
            </a:r>
            <a:endParaRPr lang="en-US" sz="5000" b="1" dirty="0">
              <a:solidFill>
                <a:srgbClr val="7FFFD4"/>
              </a:solidFill>
            </a:endParaRPr>
          </a:p>
          <a:p>
            <a:pPr fontAlgn="ctr">
              <a:buClr>
                <a:schemeClr val="tx1"/>
              </a:buClr>
              <a:buFont typeface="Wingdings" panose="05000000000000000000" pitchFamily="2" charset="2"/>
              <a:buChar char="v"/>
            </a:pPr>
            <a:r>
              <a:rPr lang="en-US" sz="5000" dirty="0" smtClean="0"/>
              <a:t>Platforms </a:t>
            </a:r>
            <a:r>
              <a:rPr lang="en-US" sz="5000" dirty="0"/>
              <a:t>like Facebook and Instagram now offer direct shopping features, which helps in increasing sales and customer engagement</a:t>
            </a:r>
            <a:r>
              <a:rPr lang="en-US" sz="5000" dirty="0" smtClean="0"/>
              <a:t>.</a:t>
            </a:r>
            <a:r>
              <a:rPr lang="en-US" sz="5000" dirty="0" smtClean="0"/>
              <a:t> </a:t>
            </a:r>
          </a:p>
          <a:p>
            <a:pPr marL="0" indent="0">
              <a:buClr>
                <a:schemeClr val="tx1"/>
              </a:buClr>
              <a:buNone/>
            </a:pPr>
            <a:r>
              <a:rPr lang="en-US" sz="5000" b="1" dirty="0">
                <a:solidFill>
                  <a:srgbClr val="7FFFD4"/>
                </a:solidFill>
              </a:rPr>
              <a:t>AI Integration:</a:t>
            </a:r>
          </a:p>
          <a:p>
            <a:pPr fontAlgn="ctr">
              <a:buClr>
                <a:schemeClr val="tx1"/>
              </a:buClr>
              <a:buFont typeface="Wingdings" panose="05000000000000000000" pitchFamily="2" charset="2"/>
              <a:buChar char="v"/>
            </a:pPr>
            <a:r>
              <a:rPr lang="en-US" sz="4200" dirty="0" smtClean="0"/>
              <a:t>The </a:t>
            </a:r>
            <a:r>
              <a:rPr lang="en-US" sz="4200" dirty="0"/>
              <a:t>use of AI is growing rapidly for content creation, personalized recommendations, and customer </a:t>
            </a:r>
            <a:r>
              <a:rPr lang="en-US" sz="4200" dirty="0" smtClean="0"/>
              <a:t>support.</a:t>
            </a:r>
            <a:r>
              <a:rPr lang="en-US" sz="4200" dirty="0" smtClean="0"/>
              <a:t> </a:t>
            </a:r>
            <a:endParaRPr lang="en-US" sz="1300" dirty="0"/>
          </a:p>
        </p:txBody>
      </p:sp>
    </p:spTree>
    <p:extLst>
      <p:ext uri="{BB962C8B-B14F-4D97-AF65-F5344CB8AC3E}">
        <p14:creationId xmlns:p14="http://schemas.microsoft.com/office/powerpoint/2010/main" val="6537626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6000" advClick="0" advTm="200">
        <p:blinds dir="vert"/>
      </p:transition>
    </mc:Choice>
    <mc:Fallback xmlns="">
      <p:transition spd="slow" advClick="0" advTm="200">
        <p:blinds dir="vert"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FE7BEA54-FFFD-A9B7-4D18-44E6DAEB991B}"/>
              </a:ext>
            </a:extLst>
          </p:cNvPr>
          <p:cNvSpPr txBox="1"/>
          <p:nvPr/>
        </p:nvSpPr>
        <p:spPr>
          <a:xfrm>
            <a:off x="342900" y="620485"/>
            <a:ext cx="11506200" cy="54784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Impact on Businesses:</a:t>
            </a:r>
          </a:p>
          <a:p>
            <a:r>
              <a:rPr lang="en-US" sz="2000" b="1" dirty="0">
                <a:solidFill>
                  <a:srgbClr val="7FFFD4"/>
                </a:solidFill>
                <a:latin typeface="+mj-lt"/>
                <a:ea typeface="+mj-ea"/>
                <a:cs typeface="+mj-cs"/>
              </a:rPr>
              <a:t>Increased Brand Awareness and Engagement:</a:t>
            </a:r>
          </a:p>
          <a:p>
            <a:pPr marL="285750" indent="-285750" fontAlgn="ctr">
              <a:buFont typeface="Wingdings" panose="05000000000000000000" pitchFamily="2" charset="2"/>
              <a:buChar char="v"/>
            </a:pPr>
            <a:r>
              <a:rPr lang="en-US" sz="2000" dirty="0" smtClean="0"/>
              <a:t>Social </a:t>
            </a:r>
            <a:r>
              <a:rPr lang="en-US" sz="2000" dirty="0"/>
              <a:t>media helps businesses reach a large audience and build brand awareness through engaging content and targeted ads.</a:t>
            </a:r>
            <a:endParaRPr lang="en-US" sz="2000" dirty="0"/>
          </a:p>
          <a:p>
            <a:r>
              <a:rPr lang="en-US" sz="2000" b="1" dirty="0">
                <a:solidFill>
                  <a:srgbClr val="7FFFD4"/>
                </a:solidFill>
                <a:latin typeface="+mj-lt"/>
                <a:ea typeface="+mj-ea"/>
                <a:cs typeface="+mj-cs"/>
              </a:rPr>
              <a:t>Improved Customer Service:</a:t>
            </a:r>
          </a:p>
          <a:p>
            <a:pPr marL="285750" indent="-285750" fontAlgn="ctr">
              <a:buFont typeface="Wingdings" panose="05000000000000000000" pitchFamily="2" charset="2"/>
              <a:buChar char="v"/>
            </a:pPr>
            <a:r>
              <a:rPr lang="en-US" sz="2000" dirty="0" smtClean="0"/>
              <a:t>It </a:t>
            </a:r>
            <a:r>
              <a:rPr lang="en-US" sz="2000" dirty="0"/>
              <a:t>allows real-time interaction with customers, helping businesses solve queries quickly and increase satisfaction</a:t>
            </a:r>
            <a:r>
              <a:rPr lang="en-US" sz="2000" dirty="0" smtClean="0"/>
              <a:t>.</a:t>
            </a:r>
          </a:p>
          <a:p>
            <a:pPr fontAlgn="ctr"/>
            <a:r>
              <a:rPr lang="en-US" sz="2000" b="1" dirty="0" smtClean="0">
                <a:solidFill>
                  <a:srgbClr val="7FFFD4"/>
                </a:solidFill>
                <a:latin typeface="+mj-lt"/>
                <a:ea typeface="+mj-ea"/>
                <a:cs typeface="+mj-cs"/>
              </a:rPr>
              <a:t>Enhanced </a:t>
            </a:r>
            <a:r>
              <a:rPr lang="en-US" sz="2000" b="1" dirty="0">
                <a:solidFill>
                  <a:srgbClr val="7FFFD4"/>
                </a:solidFill>
                <a:latin typeface="+mj-lt"/>
                <a:ea typeface="+mj-ea"/>
                <a:cs typeface="+mj-cs"/>
              </a:rPr>
              <a:t>Targeted Advertising:</a:t>
            </a:r>
          </a:p>
          <a:p>
            <a:pPr marL="285750" indent="-285750" fontAlgn="ctr">
              <a:buFont typeface="Wingdings" panose="05000000000000000000" pitchFamily="2" charset="2"/>
              <a:buChar char="v"/>
            </a:pPr>
            <a:r>
              <a:rPr lang="en-US" sz="2000" dirty="0"/>
              <a:t>Platforms offer advanced targeting options to reach specific demographics and interests with ad campaigns.</a:t>
            </a:r>
            <a:r>
              <a:rPr lang="en-US" sz="2000" dirty="0"/>
              <a:t> </a:t>
            </a:r>
          </a:p>
          <a:p>
            <a:r>
              <a:rPr lang="en-US" sz="2000" b="1" dirty="0">
                <a:solidFill>
                  <a:srgbClr val="7FFFD4"/>
                </a:solidFill>
                <a:latin typeface="+mj-lt"/>
                <a:ea typeface="+mj-ea"/>
                <a:cs typeface="+mj-cs"/>
              </a:rPr>
              <a:t>Increased Sales and Revenue:</a:t>
            </a:r>
          </a:p>
          <a:p>
            <a:pPr marL="285750" indent="-285750" fontAlgn="ctr">
              <a:buFont typeface="Wingdings" panose="05000000000000000000" pitchFamily="2" charset="2"/>
              <a:buChar char="v"/>
            </a:pPr>
            <a:r>
              <a:rPr lang="en-US" sz="2000" dirty="0"/>
              <a:t>Social commerce features help customers discover and purchase products directly, driving sales growth.</a:t>
            </a:r>
            <a:r>
              <a:rPr lang="en-US" sz="2000" dirty="0"/>
              <a:t> </a:t>
            </a:r>
          </a:p>
          <a:p>
            <a:r>
              <a:rPr lang="en-US" sz="2000" b="1" dirty="0">
                <a:solidFill>
                  <a:srgbClr val="7FFFD4"/>
                </a:solidFill>
                <a:latin typeface="+mj-lt"/>
                <a:ea typeface="+mj-ea"/>
                <a:cs typeface="+mj-cs"/>
              </a:rPr>
              <a:t>Need for Adaptability: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2000" dirty="0"/>
              <a:t>Businesses must adapt to changing trends and technologies to stay competitive in the market.</a:t>
            </a:r>
            <a:r>
              <a:rPr lang="en-US" sz="2000" dirty="0"/>
              <a:t> 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567501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6000" advClick="0" advTm="200">
        <p:blinds dir="vert"/>
      </p:transition>
    </mc:Choice>
    <mc:Fallback xmlns="">
      <p:transition spd="slow" advClick="0" advTm="200">
        <p:blinds dir="vert"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0D5E47B8-BA39-0AA3-E962-E3B00993E1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7883" y="278546"/>
            <a:ext cx="9404723" cy="722939"/>
          </a:xfrm>
        </p:spPr>
        <p:txBody>
          <a:bodyPr/>
          <a:lstStyle/>
          <a:p>
            <a:pPr algn="ctr"/>
            <a:r>
              <a:rPr lang="en-US" b="1" u="sng" dirty="0"/>
              <a:t>Key Statistics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xmlns="" id="{D9E344E3-062E-FB96-1C37-036F7A8C52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6071" y="1240971"/>
            <a:ext cx="11919857" cy="4922323"/>
          </a:xfrm>
        </p:spPr>
        <p:txBody>
          <a:bodyPr>
            <a:normAutofit fontScale="92500" lnSpcReduction="10000"/>
          </a:bodyPr>
          <a:lstStyle/>
          <a:p>
            <a:pPr marL="0" indent="0">
              <a:lnSpc>
                <a:spcPct val="150000"/>
              </a:lnSpc>
              <a:buClr>
                <a:schemeClr val="tx1"/>
              </a:buClr>
              <a:buNone/>
            </a:pPr>
            <a:r>
              <a:rPr lang="en-US" b="1" dirty="0">
                <a:solidFill>
                  <a:srgbClr val="7FFFD4"/>
                </a:solidFill>
              </a:rPr>
              <a:t>Total users and usage time</a:t>
            </a:r>
          </a:p>
          <a:p>
            <a:pPr>
              <a:lnSpc>
                <a:spcPct val="150000"/>
              </a:lnSpc>
              <a:buClr>
                <a:schemeClr val="tx1"/>
              </a:buClr>
              <a:buSzPct val="100000"/>
              <a:buFont typeface="Wingdings" panose="05000000000000000000" pitchFamily="2" charset="2"/>
              <a:buChar char="v"/>
            </a:pPr>
            <a:r>
              <a:rPr lang="en-US" dirty="0"/>
              <a:t>Approx 5.24 billion social media users worldwide as of 2025.</a:t>
            </a:r>
            <a:endParaRPr lang="en-US" dirty="0"/>
          </a:p>
          <a:p>
            <a:pPr lvl="0">
              <a:lnSpc>
                <a:spcPct val="150000"/>
              </a:lnSpc>
              <a:buClr>
                <a:schemeClr val="tx1"/>
              </a:buClr>
              <a:buFont typeface="Wingdings" panose="05000000000000000000" pitchFamily="2" charset="2"/>
              <a:buChar char="v"/>
            </a:pPr>
            <a:r>
              <a:rPr lang="en-US" dirty="0"/>
              <a:t>241 million new users joined in last year - 4.7% annual growth.</a:t>
            </a:r>
            <a:endParaRPr lang="en-US" dirty="0"/>
          </a:p>
          <a:p>
            <a:pPr lvl="0">
              <a:lnSpc>
                <a:spcPct val="150000"/>
              </a:lnSpc>
              <a:buClr>
                <a:schemeClr val="tx1"/>
              </a:buClr>
              <a:buFont typeface="Wingdings" panose="05000000000000000000" pitchFamily="2" charset="2"/>
              <a:buChar char="v"/>
            </a:pPr>
            <a:r>
              <a:rPr lang="en-US" dirty="0"/>
              <a:t>Average daily time spent is 2 hours 21 minutes</a:t>
            </a:r>
            <a:r>
              <a:rPr lang="en-US" dirty="0" smtClean="0"/>
              <a:t>.</a:t>
            </a:r>
            <a:endParaRPr lang="en-US" dirty="0"/>
          </a:p>
          <a:p>
            <a:pPr marL="0" indent="0">
              <a:lnSpc>
                <a:spcPct val="150000"/>
              </a:lnSpc>
              <a:buClr>
                <a:schemeClr val="tx1"/>
              </a:buClr>
              <a:buNone/>
            </a:pPr>
            <a:r>
              <a:rPr lang="en-US" b="1" dirty="0">
                <a:solidFill>
                  <a:srgbClr val="7FFFD4"/>
                </a:solidFill>
              </a:rPr>
              <a:t>Top platforms</a:t>
            </a:r>
          </a:p>
          <a:p>
            <a:pPr lvl="0">
              <a:lnSpc>
                <a:spcPct val="150000"/>
              </a:lnSpc>
              <a:buClr>
                <a:schemeClr val="tx1"/>
              </a:buClr>
              <a:buFont typeface="Wingdings" panose="05000000000000000000" pitchFamily="2" charset="2"/>
              <a:buChar char="v"/>
            </a:pPr>
            <a:r>
              <a:rPr lang="en-US" dirty="0"/>
              <a:t>Facebook is largest with 3.07 billion users.</a:t>
            </a:r>
            <a:endParaRPr lang="en-US" dirty="0"/>
          </a:p>
          <a:p>
            <a:pPr lvl="0">
              <a:lnSpc>
                <a:spcPct val="150000"/>
              </a:lnSpc>
              <a:buClr>
                <a:schemeClr val="tx1"/>
              </a:buClr>
              <a:buFont typeface="Wingdings" panose="05000000000000000000" pitchFamily="2" charset="2"/>
              <a:buChar char="v"/>
            </a:pPr>
            <a:r>
              <a:rPr lang="en-US" dirty="0"/>
              <a:t>YouTube is second with 2.53 billion users.</a:t>
            </a:r>
            <a:endParaRPr lang="en-US" dirty="0"/>
          </a:p>
          <a:p>
            <a:pPr lvl="0">
              <a:lnSpc>
                <a:spcPct val="150000"/>
              </a:lnSpc>
              <a:buClr>
                <a:schemeClr val="tx1"/>
              </a:buClr>
              <a:buFont typeface="Wingdings" panose="05000000000000000000" pitchFamily="2" charset="2"/>
              <a:buChar char="v"/>
            </a:pPr>
            <a:r>
              <a:rPr lang="en-US" dirty="0"/>
              <a:t> Instagram &amp; WhatsApp tied at third with 2.0 billion users each.</a:t>
            </a:r>
            <a:endParaRPr lang="en-US" dirty="0"/>
          </a:p>
          <a:p>
            <a:pPr lvl="0">
              <a:lnSpc>
                <a:spcPct val="150000"/>
              </a:lnSpc>
              <a:buClr>
                <a:schemeClr val="tx1"/>
              </a:buClr>
              <a:buFont typeface="Wingdings" panose="05000000000000000000" pitchFamily="2" charset="2"/>
              <a:buChar char="v"/>
            </a:pPr>
            <a:r>
              <a:rPr lang="en-US" dirty="0"/>
              <a:t>Other major platforms: TikTok (1.59B), WeChat (1.38B), Telegram (950M).</a:t>
            </a:r>
            <a:r>
              <a:rPr lang="en-US" dirty="0"/>
              <a:t>  </a:t>
            </a:r>
          </a:p>
          <a:p>
            <a:pPr marL="0" indent="0">
              <a:lnSpc>
                <a:spcPct val="150000"/>
              </a:lnSpc>
              <a:buClr>
                <a:schemeClr val="tx1"/>
              </a:buClr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83603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6000" advClick="0" advTm="200">
        <p:blinds dir="vert"/>
      </p:transition>
    </mc:Choice>
    <mc:Fallback xmlns="">
      <p:transition spd="slow" advClick="0" advTm="200">
        <p:blinds dir="vert"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1A6FD70C-A9FC-2F63-D027-D8021C6E08F8}"/>
              </a:ext>
            </a:extLst>
          </p:cNvPr>
          <p:cNvSpPr txBox="1"/>
          <p:nvPr/>
        </p:nvSpPr>
        <p:spPr>
          <a:xfrm>
            <a:off x="119742" y="770759"/>
            <a:ext cx="11952515" cy="60374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sz="2000" b="1" dirty="0">
                <a:solidFill>
                  <a:srgbClr val="7FFFD4"/>
                </a:solidFill>
                <a:latin typeface="+mj-lt"/>
                <a:ea typeface="+mj-ea"/>
                <a:cs typeface="+mj-cs"/>
              </a:rPr>
              <a:t>Growth of video content</a:t>
            </a:r>
          </a:p>
          <a:p>
            <a:pPr marL="285750" lvl="0" indent="-28575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sz="2000" dirty="0" smtClean="0"/>
              <a:t>Video </a:t>
            </a:r>
            <a:r>
              <a:rPr lang="en-US" sz="2000" dirty="0"/>
              <a:t>content dominates social media, with Reels, YouTube Shorts &amp; TikTok leading</a:t>
            </a:r>
            <a:r>
              <a:rPr lang="en-US" sz="2000" dirty="0" smtClean="0"/>
              <a:t>.</a:t>
            </a:r>
            <a:endParaRPr lang="en-US" sz="2000" dirty="0" smtClean="0"/>
          </a:p>
          <a:p>
            <a:pPr marL="285750" lvl="0" indent="-28575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sz="2000" dirty="0" smtClean="0"/>
              <a:t>Short-form video will be the majority of all online content by 2025.</a:t>
            </a:r>
            <a:endParaRPr lang="en-US" sz="2000" dirty="0" smtClean="0"/>
          </a:p>
          <a:p>
            <a:pPr marL="285750" lvl="0" indent="-28575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sz="2000" dirty="0" smtClean="0"/>
              <a:t>TikTok </a:t>
            </a:r>
            <a:r>
              <a:rPr lang="en-US" sz="2000" dirty="0"/>
              <a:t>is most engaging - avg 1 hour 35 mins daily usage</a:t>
            </a:r>
            <a:r>
              <a:rPr lang="en-US" sz="2000" dirty="0" smtClean="0"/>
              <a:t>.</a:t>
            </a:r>
            <a:endParaRPr lang="en-US" sz="2000" b="1" dirty="0" smtClean="0"/>
          </a:p>
          <a:p>
            <a:pPr>
              <a:lnSpc>
                <a:spcPct val="200000"/>
              </a:lnSpc>
            </a:pPr>
            <a:r>
              <a:rPr lang="en-US" sz="2000" b="1" dirty="0" smtClean="0">
                <a:solidFill>
                  <a:srgbClr val="7FFFD4"/>
                </a:solidFill>
                <a:latin typeface="+mj-lt"/>
                <a:ea typeface="+mj-ea"/>
                <a:cs typeface="+mj-cs"/>
              </a:rPr>
              <a:t>Other </a:t>
            </a:r>
            <a:r>
              <a:rPr lang="en-US" sz="2000" b="1" dirty="0">
                <a:solidFill>
                  <a:srgbClr val="7FFFD4"/>
                </a:solidFill>
                <a:latin typeface="+mj-lt"/>
                <a:ea typeface="+mj-ea"/>
                <a:cs typeface="+mj-cs"/>
              </a:rPr>
              <a:t>notable trends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sz="2000" b="1" dirty="0"/>
              <a:t> Authenticity &amp; UGC: </a:t>
            </a:r>
            <a:r>
              <a:rPr lang="en-US" sz="2000" dirty="0"/>
              <a:t>Users prefer raw, unfiltered content from real people</a:t>
            </a:r>
            <a:r>
              <a:rPr lang="en-US" sz="2000" dirty="0" smtClean="0"/>
              <a:t>.</a:t>
            </a:r>
          </a:p>
          <a:p>
            <a:pPr>
              <a:lnSpc>
                <a:spcPct val="200000"/>
              </a:lnSpc>
            </a:pPr>
            <a:r>
              <a:rPr lang="en-US" sz="2000" dirty="0" smtClean="0"/>
              <a:t>❖ </a:t>
            </a:r>
            <a:r>
              <a:rPr lang="en-US" sz="2000" b="1" dirty="0"/>
              <a:t>Influencer Marketing: </a:t>
            </a:r>
            <a:r>
              <a:rPr lang="en-US" sz="2000" dirty="0"/>
              <a:t>Shift towards nano &amp; micro-influencers for better engagement</a:t>
            </a:r>
            <a:r>
              <a:rPr lang="en-US" sz="2000" dirty="0" smtClean="0"/>
              <a:t>.</a:t>
            </a:r>
          </a:p>
          <a:p>
            <a:pPr>
              <a:lnSpc>
                <a:spcPct val="200000"/>
              </a:lnSpc>
            </a:pPr>
            <a:r>
              <a:rPr lang="en-US" sz="2000" dirty="0" smtClean="0"/>
              <a:t>❖ </a:t>
            </a:r>
            <a:r>
              <a:rPr lang="en-US" sz="2000" b="1" dirty="0"/>
              <a:t>AI Integrations: </a:t>
            </a:r>
            <a:r>
              <a:rPr lang="en-US" sz="2000" dirty="0"/>
              <a:t>AI is used for ad targeting, content creation &amp; customer service. </a:t>
            </a:r>
            <a:endParaRPr lang="en-US" dirty="0"/>
          </a:p>
          <a:p>
            <a:pPr lvl="0">
              <a:lnSpc>
                <a:spcPct val="200000"/>
              </a:lnSpc>
            </a:pPr>
            <a:endParaRPr lang="en-US" dirty="0"/>
          </a:p>
          <a:p>
            <a:pPr>
              <a:lnSpc>
                <a:spcPct val="200000"/>
              </a:lnSpc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295071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6000" advClick="0" advTm="200">
        <p:blinds dir="vert"/>
      </p:transition>
    </mc:Choice>
    <mc:Fallback xmlns="">
      <p:transition spd="slow" advClick="0" advTm="200">
        <p:blinds dir="vert"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29E01342-8218-8A74-B3ED-0E798EEB54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4711" y="267660"/>
            <a:ext cx="9404723" cy="1005968"/>
          </a:xfrm>
        </p:spPr>
        <p:txBody>
          <a:bodyPr/>
          <a:lstStyle/>
          <a:p>
            <a:pPr algn="ctr"/>
            <a:r>
              <a:rPr lang="en-US" b="1" u="sng" dirty="0"/>
              <a:t>Age Group Breakdown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8BF2C946-8DF2-7723-6C64-517B2EB736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5058" y="1321655"/>
            <a:ext cx="11821884" cy="5268685"/>
          </a:xfrm>
        </p:spPr>
        <p:txBody>
          <a:bodyPr>
            <a:normAutofit/>
          </a:bodyPr>
          <a:lstStyle/>
          <a:p>
            <a:pPr marL="0" indent="0">
              <a:buClr>
                <a:schemeClr val="tx1"/>
              </a:buClr>
              <a:buSzPct val="100000"/>
              <a:buNone/>
            </a:pPr>
            <a:r>
              <a:rPr lang="en-US" dirty="0"/>
              <a:t>In 2025, social media usage varies across different age groups.</a:t>
            </a:r>
            <a:r>
              <a:rPr lang="en-US" dirty="0"/>
              <a:t> </a:t>
            </a:r>
          </a:p>
          <a:p>
            <a:pPr marL="0" lvl="0" indent="0">
              <a:buClr>
                <a:schemeClr val="tx1"/>
              </a:buClr>
              <a:buSzPct val="100000"/>
              <a:buNone/>
            </a:pPr>
            <a:r>
              <a:rPr lang="en-US" b="1" dirty="0">
                <a:solidFill>
                  <a:srgbClr val="7FFFD4"/>
                </a:solidFill>
              </a:rPr>
              <a:t>Young adults and teens (13-29): </a:t>
            </a:r>
          </a:p>
          <a:p>
            <a:pPr marL="0" lvl="0" indent="0">
              <a:buClr>
                <a:schemeClr val="tx1"/>
              </a:buClr>
              <a:buSzPct val="100000"/>
              <a:buNone/>
            </a:pPr>
            <a:r>
              <a:rPr lang="en-US" dirty="0"/>
              <a:t>❖ Most active users - 95% of Gen Z (13-24) in U.S. use social media</a:t>
            </a:r>
            <a:r>
              <a:rPr lang="en-US" dirty="0" smtClean="0"/>
              <a:t>.</a:t>
            </a:r>
          </a:p>
          <a:p>
            <a:pPr marL="0" lvl="0" indent="0">
              <a:buClr>
                <a:schemeClr val="tx1"/>
              </a:buClr>
              <a:buSzPct val="100000"/>
              <a:buNone/>
            </a:pPr>
            <a:r>
              <a:rPr lang="en-US" dirty="0" smtClean="0"/>
              <a:t>❖ </a:t>
            </a:r>
            <a:r>
              <a:rPr lang="en-US" b="1" dirty="0"/>
              <a:t>Fav platforms: </a:t>
            </a:r>
            <a:r>
              <a:rPr lang="en-US" dirty="0"/>
              <a:t>YouTube, Instagram &amp; TikTok. </a:t>
            </a:r>
            <a:endParaRPr lang="en-US" dirty="0" smtClean="0"/>
          </a:p>
          <a:p>
            <a:pPr marL="0" lvl="0" indent="0">
              <a:buClr>
                <a:schemeClr val="tx1"/>
              </a:buClr>
              <a:buSzPct val="100000"/>
              <a:buNone/>
            </a:pPr>
            <a:r>
              <a:rPr lang="en-US" b="1" dirty="0" smtClean="0">
                <a:solidFill>
                  <a:srgbClr val="7FFFD4"/>
                </a:solidFill>
              </a:rPr>
              <a:t>Middle-aged </a:t>
            </a:r>
            <a:r>
              <a:rPr lang="en-US" b="1" dirty="0">
                <a:solidFill>
                  <a:srgbClr val="7FFFD4"/>
                </a:solidFill>
              </a:rPr>
              <a:t>adults (30-45): </a:t>
            </a:r>
          </a:p>
          <a:p>
            <a:pPr marL="0" lvl="0" indent="0">
              <a:buClr>
                <a:schemeClr val="tx1"/>
              </a:buClr>
              <a:buSzPct val="100000"/>
              <a:buNone/>
            </a:pPr>
            <a:r>
              <a:rPr lang="en-US" b="1" dirty="0"/>
              <a:t>❖ </a:t>
            </a:r>
            <a:r>
              <a:rPr lang="en-US" dirty="0"/>
              <a:t>Usage remains high</a:t>
            </a:r>
            <a:r>
              <a:rPr lang="en-US" dirty="0" smtClean="0"/>
              <a:t>.</a:t>
            </a:r>
          </a:p>
          <a:p>
            <a:pPr marL="0" lvl="0" indent="0">
              <a:buClr>
                <a:schemeClr val="tx1"/>
              </a:buClr>
              <a:buSzPct val="100000"/>
              <a:buNone/>
            </a:pPr>
            <a:r>
              <a:rPr lang="en-US" b="1" dirty="0" smtClean="0"/>
              <a:t>❖ </a:t>
            </a:r>
            <a:r>
              <a:rPr lang="en-US" b="1" dirty="0"/>
              <a:t>Fav platforms: </a:t>
            </a:r>
            <a:r>
              <a:rPr lang="en-US" dirty="0"/>
              <a:t>YouTube, Facebook &amp; Instagram.</a:t>
            </a:r>
          </a:p>
          <a:p>
            <a:pPr marL="0" lvl="0" indent="0">
              <a:buClr>
                <a:schemeClr val="tx1"/>
              </a:buClr>
              <a:buSzPct val="100000"/>
              <a:buNone/>
            </a:pPr>
            <a:r>
              <a:rPr lang="en-US" b="1" dirty="0" smtClean="0">
                <a:solidFill>
                  <a:srgbClr val="7FFFD4"/>
                </a:solidFill>
              </a:rPr>
              <a:t>Older </a:t>
            </a:r>
            <a:r>
              <a:rPr lang="en-US" b="1" dirty="0">
                <a:solidFill>
                  <a:srgbClr val="7FFFD4"/>
                </a:solidFill>
              </a:rPr>
              <a:t>adults (46-60+): </a:t>
            </a:r>
          </a:p>
          <a:p>
            <a:pPr marL="0" indent="0">
              <a:buClr>
                <a:schemeClr val="tx1"/>
              </a:buClr>
              <a:buSzPct val="100000"/>
              <a:buNone/>
            </a:pPr>
            <a:r>
              <a:rPr lang="en-US" dirty="0"/>
              <a:t>❖ Usage is lower than younger groups but still significant</a:t>
            </a:r>
            <a:r>
              <a:rPr lang="en-US" dirty="0" smtClean="0"/>
              <a:t>.</a:t>
            </a:r>
          </a:p>
          <a:p>
            <a:pPr marL="0" indent="0">
              <a:buClr>
                <a:schemeClr val="tx1"/>
              </a:buClr>
              <a:buSzPct val="100000"/>
              <a:buNone/>
            </a:pPr>
            <a:r>
              <a:rPr lang="en-US" dirty="0" smtClean="0"/>
              <a:t>❖ </a:t>
            </a:r>
            <a:r>
              <a:rPr lang="en-US" b="1" dirty="0"/>
              <a:t>Fav platforms: </a:t>
            </a:r>
            <a:r>
              <a:rPr lang="en-US" dirty="0"/>
              <a:t>Facebook &amp; YouTube</a:t>
            </a:r>
            <a:r>
              <a:rPr lang="en-US" dirty="0" smtClean="0"/>
              <a:t>.</a:t>
            </a:r>
          </a:p>
          <a:p>
            <a:pPr marL="0" indent="0">
              <a:buClr>
                <a:schemeClr val="tx1"/>
              </a:buClr>
              <a:buSzPct val="100000"/>
              <a:buNone/>
            </a:pPr>
            <a:r>
              <a:rPr lang="en-US" dirty="0" smtClean="0"/>
              <a:t>❖ </a:t>
            </a:r>
            <a:r>
              <a:rPr lang="en-US" dirty="0"/>
              <a:t>65% of adults aged 65+ in U.S. use YouTube.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687225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6000" advClick="0" advTm="200">
        <p:blinds dir="vert"/>
      </p:transition>
    </mc:Choice>
    <mc:Fallback xmlns="">
      <p:transition spd="slow" advClick="0" advTm="200">
        <p:blinds dir="vert"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0C896ACA-FD19-031B-FDA8-454D8876C54A}"/>
              </a:ext>
            </a:extLst>
          </p:cNvPr>
          <p:cNvSpPr txBox="1"/>
          <p:nvPr/>
        </p:nvSpPr>
        <p:spPr>
          <a:xfrm>
            <a:off x="250371" y="1186544"/>
            <a:ext cx="11691257" cy="44935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According to social media usage trends in 2025, the percentages of individuals using social media across various age groups are as follows:</a:t>
            </a:r>
          </a:p>
          <a:p>
            <a:endParaRPr lang="en-US" sz="2000" b="1" dirty="0">
              <a:solidFill>
                <a:srgbClr val="7FFFD4"/>
              </a:solidFill>
              <a:latin typeface="+mj-lt"/>
              <a:ea typeface="+mj-ea"/>
              <a:cs typeface="+mj-cs"/>
            </a:endParaRPr>
          </a:p>
          <a:p>
            <a:r>
              <a:rPr lang="en-US" sz="2000" b="1" dirty="0">
                <a:solidFill>
                  <a:srgbClr val="7FFFD4"/>
                </a:solidFill>
                <a:latin typeface="+mj-lt"/>
                <a:ea typeface="+mj-ea"/>
                <a:cs typeface="+mj-cs"/>
              </a:rPr>
              <a:t>Ages 13-18:</a:t>
            </a:r>
          </a:p>
          <a:p>
            <a:r>
              <a:rPr lang="en-US" sz="2000" dirty="0"/>
              <a:t>                       92% use social media platforms regularly.</a:t>
            </a:r>
          </a:p>
          <a:p>
            <a:r>
              <a:rPr lang="en-US" sz="2000" b="1" dirty="0">
                <a:solidFill>
                  <a:srgbClr val="7FFFD4"/>
                </a:solidFill>
                <a:latin typeface="+mj-lt"/>
                <a:ea typeface="+mj-ea"/>
                <a:cs typeface="+mj-cs"/>
              </a:rPr>
              <a:t>Ages 19-29:</a:t>
            </a:r>
          </a:p>
          <a:p>
            <a:r>
              <a:rPr lang="en-US" sz="2000" dirty="0"/>
              <a:t>                     88% are active social media users.</a:t>
            </a:r>
          </a:p>
          <a:p>
            <a:r>
              <a:rPr lang="en-US" sz="2000" b="1" dirty="0">
                <a:solidFill>
                  <a:srgbClr val="7FFFD4"/>
                </a:solidFill>
                <a:latin typeface="+mj-lt"/>
                <a:ea typeface="+mj-ea"/>
                <a:cs typeface="+mj-cs"/>
              </a:rPr>
              <a:t>Ages 30-45:</a:t>
            </a:r>
          </a:p>
          <a:p>
            <a:r>
              <a:rPr lang="en-US" sz="2000" dirty="0"/>
              <a:t>                     76% use social media platforms.</a:t>
            </a:r>
          </a:p>
          <a:p>
            <a:r>
              <a:rPr lang="en-US" sz="2000" b="1" dirty="0">
                <a:solidFill>
                  <a:srgbClr val="7FFFD4"/>
                </a:solidFill>
                <a:latin typeface="+mj-lt"/>
                <a:ea typeface="+mj-ea"/>
                <a:cs typeface="+mj-cs"/>
              </a:rPr>
              <a:t>Ages 46-60: </a:t>
            </a:r>
          </a:p>
          <a:p>
            <a:r>
              <a:rPr lang="en-US" sz="2000" b="1" dirty="0">
                <a:solidFill>
                  <a:srgbClr val="7FFFD4"/>
                </a:solidFill>
                <a:latin typeface="+mj-lt"/>
                <a:ea typeface="+mj-ea"/>
                <a:cs typeface="+mj-cs"/>
              </a:rPr>
              <a:t>                     </a:t>
            </a:r>
            <a:r>
              <a:rPr lang="en-US" sz="2000" dirty="0"/>
              <a:t>54% engage with social media content.</a:t>
            </a:r>
          </a:p>
          <a:p>
            <a:r>
              <a:rPr lang="en-US" sz="2000" b="1" dirty="0">
                <a:solidFill>
                  <a:srgbClr val="7FFFD4"/>
                </a:solidFill>
                <a:latin typeface="+mj-lt"/>
                <a:ea typeface="+mj-ea"/>
                <a:cs typeface="+mj-cs"/>
              </a:rPr>
              <a:t>Ages 60+: </a:t>
            </a:r>
          </a:p>
          <a:p>
            <a:r>
              <a:rPr lang="en-US" sz="2000" dirty="0"/>
              <a:t>                  31% use social media regularly. 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813447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6000" advClick="0" advTm="200">
        <p:blinds dir="vert"/>
      </p:transition>
    </mc:Choice>
    <mc:Fallback xmlns="">
      <p:transition spd="slow" advClick="0" advTm="200">
        <p:blinds dir="vert"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E1052232-7424-4F9D-A4B4-4835E150F3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7625" y="326571"/>
            <a:ext cx="9404723" cy="881743"/>
          </a:xfrm>
        </p:spPr>
        <p:txBody>
          <a:bodyPr/>
          <a:lstStyle/>
          <a:p>
            <a:pPr algn="ctr"/>
            <a:r>
              <a:rPr lang="en-US" b="1" u="sng" dirty="0"/>
              <a:t>Business Impact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50A9B211-8F2A-1893-3210-BBC4F71033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642" y="1208314"/>
            <a:ext cx="11854543" cy="4990605"/>
          </a:xfrm>
        </p:spPr>
        <p:txBody>
          <a:bodyPr>
            <a:normAutofit lnSpcReduction="10000"/>
          </a:bodyPr>
          <a:lstStyle/>
          <a:p>
            <a:pPr marL="0" lvl="0" indent="0">
              <a:lnSpc>
                <a:spcPct val="150000"/>
              </a:lnSpc>
              <a:buNone/>
            </a:pPr>
            <a:r>
              <a:rPr lang="en-US" b="1" dirty="0">
                <a:solidFill>
                  <a:srgbClr val="7FFFD4"/>
                </a:solidFill>
              </a:rPr>
              <a:t>Marketing: </a:t>
            </a:r>
          </a:p>
          <a:p>
            <a:pPr lvl="0">
              <a:lnSpc>
                <a:spcPct val="150000"/>
              </a:lnSpc>
              <a:buClr>
                <a:schemeClr val="tx1"/>
              </a:buClr>
              <a:buSzPct val="100000"/>
              <a:buFont typeface="Wingdings" panose="05000000000000000000" pitchFamily="2" charset="2"/>
              <a:buChar char="v"/>
            </a:pPr>
            <a:r>
              <a:rPr lang="en-US" dirty="0" smtClean="0"/>
              <a:t>Short-form </a:t>
            </a:r>
            <a:r>
              <a:rPr lang="en-US" dirty="0"/>
              <a:t>video ads giving 40% higher engagement</a:t>
            </a:r>
            <a:r>
              <a:rPr lang="en-US" dirty="0" smtClean="0"/>
              <a:t>.</a:t>
            </a:r>
          </a:p>
          <a:p>
            <a:pPr lvl="0">
              <a:lnSpc>
                <a:spcPct val="150000"/>
              </a:lnSpc>
              <a:buClr>
                <a:schemeClr val="tx1"/>
              </a:buClr>
              <a:buSzPct val="100000"/>
              <a:buFont typeface="Wingdings" panose="05000000000000000000" pitchFamily="2" charset="2"/>
              <a:buChar char="v"/>
            </a:pPr>
            <a:r>
              <a:rPr lang="en-US" dirty="0" smtClean="0"/>
              <a:t>Ad </a:t>
            </a:r>
            <a:r>
              <a:rPr lang="en-US" dirty="0"/>
              <a:t>market to hit $100 billion by 2025. </a:t>
            </a:r>
            <a:endParaRPr lang="en-US" dirty="0" smtClean="0"/>
          </a:p>
          <a:p>
            <a:pPr marL="0" lvl="0" indent="0">
              <a:lnSpc>
                <a:spcPct val="150000"/>
              </a:lnSpc>
              <a:buClr>
                <a:schemeClr val="tx1"/>
              </a:buClr>
              <a:buSzPct val="100000"/>
              <a:buNone/>
            </a:pPr>
            <a:r>
              <a:rPr lang="en-US" b="1" dirty="0" smtClean="0">
                <a:solidFill>
                  <a:srgbClr val="7FFFD4"/>
                </a:solidFill>
              </a:rPr>
              <a:t>E-commerce</a:t>
            </a:r>
            <a:r>
              <a:rPr lang="en-US" b="1" dirty="0">
                <a:solidFill>
                  <a:srgbClr val="7FFFD4"/>
                </a:solidFill>
              </a:rPr>
              <a:t>: </a:t>
            </a:r>
          </a:p>
          <a:p>
            <a:pPr lvl="0">
              <a:lnSpc>
                <a:spcPct val="150000"/>
              </a:lnSpc>
              <a:buClr>
                <a:schemeClr val="tx1"/>
              </a:buClr>
              <a:buSzPct val="100000"/>
              <a:buFont typeface="Wingdings" panose="05000000000000000000" pitchFamily="2" charset="2"/>
              <a:buChar char="v"/>
            </a:pPr>
            <a:r>
              <a:rPr lang="en-US" dirty="0" smtClean="0"/>
              <a:t>65</a:t>
            </a:r>
            <a:r>
              <a:rPr lang="en-US" dirty="0"/>
              <a:t>% users buy directly via Facebook, Instagram, TikTok</a:t>
            </a:r>
            <a:r>
              <a:rPr lang="en-US" dirty="0" smtClean="0"/>
              <a:t>.</a:t>
            </a:r>
          </a:p>
          <a:p>
            <a:pPr lvl="0">
              <a:lnSpc>
                <a:spcPct val="150000"/>
              </a:lnSpc>
              <a:buClr>
                <a:schemeClr val="tx1"/>
              </a:buClr>
              <a:buSzPct val="100000"/>
              <a:buFont typeface="Wingdings" panose="05000000000000000000" pitchFamily="2" charset="2"/>
              <a:buChar char="v"/>
            </a:pPr>
            <a:r>
              <a:rPr lang="en-US" dirty="0" smtClean="0"/>
              <a:t>Global </a:t>
            </a:r>
            <a:r>
              <a:rPr lang="en-US" dirty="0"/>
              <a:t>social commerce market to reach $1.2 trillion by 2025. </a:t>
            </a:r>
            <a:endParaRPr lang="en-US" dirty="0" smtClean="0"/>
          </a:p>
          <a:p>
            <a:pPr marL="0" lvl="0" indent="0">
              <a:lnSpc>
                <a:spcPct val="150000"/>
              </a:lnSpc>
              <a:buClr>
                <a:schemeClr val="tx1"/>
              </a:buClr>
              <a:buSzPct val="100000"/>
              <a:buNone/>
            </a:pPr>
            <a:r>
              <a:rPr lang="en-US" b="1" dirty="0" smtClean="0">
                <a:solidFill>
                  <a:srgbClr val="7FFFD4"/>
                </a:solidFill>
              </a:rPr>
              <a:t>Customer </a:t>
            </a:r>
            <a:r>
              <a:rPr lang="en-US" b="1" dirty="0">
                <a:solidFill>
                  <a:srgbClr val="7FFFD4"/>
                </a:solidFill>
              </a:rPr>
              <a:t>Service:</a:t>
            </a:r>
          </a:p>
          <a:p>
            <a:pPr lvl="0">
              <a:lnSpc>
                <a:spcPct val="150000"/>
              </a:lnSpc>
              <a:buClr>
                <a:schemeClr val="tx1"/>
              </a:buClr>
              <a:buSzPct val="100000"/>
              <a:buFont typeface="Wingdings" panose="05000000000000000000" pitchFamily="2" charset="2"/>
              <a:buChar char="v"/>
            </a:pPr>
            <a:r>
              <a:rPr lang="en-US" dirty="0"/>
              <a:t> </a:t>
            </a:r>
            <a:r>
              <a:rPr lang="en-US" dirty="0" smtClean="0"/>
              <a:t>30</a:t>
            </a:r>
            <a:r>
              <a:rPr lang="en-US" dirty="0"/>
              <a:t>% faster response time than email/phone</a:t>
            </a:r>
            <a:r>
              <a:rPr lang="en-US" dirty="0" smtClean="0"/>
              <a:t>.</a:t>
            </a:r>
          </a:p>
          <a:p>
            <a:pPr lvl="0">
              <a:lnSpc>
                <a:spcPct val="150000"/>
              </a:lnSpc>
              <a:buClr>
                <a:schemeClr val="tx1"/>
              </a:buClr>
              <a:buSzPct val="100000"/>
              <a:buFont typeface="Wingdings" panose="05000000000000000000" pitchFamily="2" charset="2"/>
              <a:buChar char="v"/>
            </a:pPr>
            <a:r>
              <a:rPr lang="en-US" dirty="0"/>
              <a:t> </a:t>
            </a:r>
            <a:r>
              <a:rPr lang="en-US" dirty="0" smtClean="0"/>
              <a:t>Brands </a:t>
            </a:r>
            <a:r>
              <a:rPr lang="en-US" dirty="0"/>
              <a:t>use it to solve issues proactively before they escalate.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05123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6000" advClick="0" advTm="200">
        <p:blinds dir="vert"/>
      </p:transition>
    </mc:Choice>
    <mc:Fallback xmlns="">
      <p:transition spd="slow" advClick="0" advTm="200">
        <p:blinds dir="vert"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78153F7B-A644-A079-5D21-77474CEED4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2940" y="300318"/>
            <a:ext cx="9404723" cy="918882"/>
          </a:xfrm>
        </p:spPr>
        <p:txBody>
          <a:bodyPr/>
          <a:lstStyle/>
          <a:p>
            <a:pPr algn="ctr"/>
            <a:r>
              <a:rPr lang="en-US" b="1" u="sng" dirty="0"/>
              <a:t>Recommendations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B210D4B4-F3FD-305A-C95D-854CBE7983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7842" y="1219200"/>
            <a:ext cx="11876315" cy="5486400"/>
          </a:xfrm>
        </p:spPr>
        <p:txBody>
          <a:bodyPr>
            <a:normAutofit/>
          </a:bodyPr>
          <a:lstStyle/>
          <a:p>
            <a:pPr marL="0" lvl="0" indent="0">
              <a:buNone/>
            </a:pPr>
            <a:r>
              <a:rPr lang="en-US" sz="2200" b="1" dirty="0">
                <a:solidFill>
                  <a:srgbClr val="7FFFD4"/>
                </a:solidFill>
              </a:rPr>
              <a:t>Invest in video content creation: </a:t>
            </a:r>
          </a:p>
          <a:p>
            <a:pPr marL="0" lvl="0" indent="0">
              <a:buClr>
                <a:schemeClr val="tx1"/>
              </a:buClr>
              <a:buSzPct val="100000"/>
              <a:buNone/>
            </a:pPr>
            <a:r>
              <a:rPr lang="en-US" dirty="0"/>
              <a:t>❖ Make engaging, authentic short videos for TikTok, Reels, Shorts</a:t>
            </a:r>
            <a:r>
              <a:rPr lang="en-US" dirty="0" smtClean="0"/>
              <a:t>.</a:t>
            </a:r>
          </a:p>
          <a:p>
            <a:pPr marL="0" lvl="0" indent="0">
              <a:buClr>
                <a:schemeClr val="tx1"/>
              </a:buClr>
              <a:buSzPct val="100000"/>
              <a:buNone/>
            </a:pPr>
            <a:r>
              <a:rPr lang="en-US" dirty="0" smtClean="0"/>
              <a:t>❖ </a:t>
            </a:r>
            <a:r>
              <a:rPr lang="en-US" dirty="0"/>
              <a:t>Use long videos for tutorials &amp; storytelling. </a:t>
            </a:r>
            <a:endParaRPr lang="en-US" dirty="0" smtClean="0"/>
          </a:p>
          <a:p>
            <a:pPr marL="0" lvl="0" indent="0">
              <a:buClr>
                <a:schemeClr val="tx1"/>
              </a:buClr>
              <a:buSzPct val="100000"/>
              <a:buNone/>
            </a:pPr>
            <a:r>
              <a:rPr lang="en-US" sz="2200" b="1" dirty="0" smtClean="0">
                <a:solidFill>
                  <a:srgbClr val="7FFFD4"/>
                </a:solidFill>
              </a:rPr>
              <a:t>Target </a:t>
            </a:r>
            <a:r>
              <a:rPr lang="en-US" sz="2200" b="1" dirty="0">
                <a:solidFill>
                  <a:srgbClr val="7FFFD4"/>
                </a:solidFill>
              </a:rPr>
              <a:t>platforms strategically based on age: </a:t>
            </a:r>
          </a:p>
          <a:p>
            <a:pPr lvl="0">
              <a:buClr>
                <a:schemeClr val="tx1"/>
              </a:buClr>
              <a:buSzPct val="100000"/>
              <a:buFont typeface="Wingdings" panose="05000000000000000000" pitchFamily="2" charset="2"/>
              <a:buChar char="v"/>
            </a:pPr>
            <a:r>
              <a:rPr lang="en-US" dirty="0"/>
              <a:t>Instagram &amp; TikTok for younger audience</a:t>
            </a:r>
            <a:r>
              <a:rPr lang="en-US" dirty="0"/>
              <a:t>.</a:t>
            </a:r>
          </a:p>
          <a:p>
            <a:pPr lvl="0">
              <a:buClr>
                <a:schemeClr val="tx1"/>
              </a:buClr>
              <a:buSzPct val="100000"/>
              <a:buFont typeface="Wingdings" panose="05000000000000000000" pitchFamily="2" charset="2"/>
              <a:buChar char="v"/>
            </a:pPr>
            <a:r>
              <a:rPr lang="en-US" dirty="0"/>
              <a:t>Facebook </a:t>
            </a:r>
            <a:r>
              <a:rPr lang="en-US" dirty="0"/>
              <a:t>for broader &amp; older audience.</a:t>
            </a:r>
          </a:p>
          <a:p>
            <a:pPr marL="0" lvl="0" indent="0">
              <a:buClr>
                <a:schemeClr val="tx1"/>
              </a:buClr>
              <a:buSzPct val="100000"/>
              <a:buNone/>
            </a:pPr>
            <a:r>
              <a:rPr lang="en-US" sz="2200" b="1" dirty="0">
                <a:solidFill>
                  <a:srgbClr val="7FFFD4"/>
                </a:solidFill>
              </a:rPr>
              <a:t>Utilize social commerce features: </a:t>
            </a:r>
            <a:endParaRPr lang="en-US" dirty="0"/>
          </a:p>
          <a:p>
            <a:pPr marL="0" lvl="0" indent="0">
              <a:buClr>
                <a:schemeClr val="tx1"/>
              </a:buClr>
              <a:buSzPct val="100000"/>
              <a:buNone/>
            </a:pPr>
            <a:r>
              <a:rPr lang="en-US" dirty="0"/>
              <a:t>❖ Use shoppable posts &amp; live shopping for in-app purchases. </a:t>
            </a:r>
            <a:endParaRPr lang="en-US" dirty="0" smtClean="0"/>
          </a:p>
          <a:p>
            <a:pPr marL="0" lvl="0" indent="0">
              <a:buClr>
                <a:schemeClr val="tx1"/>
              </a:buClr>
              <a:buSzPct val="100000"/>
              <a:buNone/>
            </a:pPr>
            <a:r>
              <a:rPr lang="en-US" sz="2200" b="1" dirty="0" smtClean="0">
                <a:solidFill>
                  <a:srgbClr val="7FFFD4"/>
                </a:solidFill>
              </a:rPr>
              <a:t>Track </a:t>
            </a:r>
            <a:r>
              <a:rPr lang="en-US" sz="2200" b="1" dirty="0">
                <a:solidFill>
                  <a:srgbClr val="7FFFD4"/>
                </a:solidFill>
              </a:rPr>
              <a:t>analytics and refine strategies: </a:t>
            </a:r>
          </a:p>
          <a:p>
            <a:pPr lvl="0">
              <a:buClr>
                <a:schemeClr val="tx1"/>
              </a:buClr>
              <a:buSzPct val="100000"/>
              <a:buFont typeface="Wingdings" panose="05000000000000000000" pitchFamily="2" charset="2"/>
              <a:buChar char="v"/>
            </a:pPr>
            <a:r>
              <a:rPr lang="en-US" dirty="0" smtClean="0"/>
              <a:t>Monitor </a:t>
            </a:r>
            <a:r>
              <a:rPr lang="en-US" dirty="0"/>
              <a:t>KPIs like watch time, retention &amp; conversion rate</a:t>
            </a:r>
            <a:r>
              <a:rPr lang="en-US" dirty="0" smtClean="0"/>
              <a:t>.</a:t>
            </a:r>
          </a:p>
          <a:p>
            <a:pPr lvl="0">
              <a:buClr>
                <a:schemeClr val="tx1"/>
              </a:buClr>
              <a:buSzPct val="100000"/>
              <a:buFont typeface="Wingdings" panose="05000000000000000000" pitchFamily="2" charset="2"/>
              <a:buChar char="v"/>
            </a:pPr>
            <a:r>
              <a:rPr lang="en-US" dirty="0" smtClean="0"/>
              <a:t>Adjust </a:t>
            </a:r>
            <a:r>
              <a:rPr lang="en-US" dirty="0"/>
              <a:t>content strategy accordingly.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853368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6000" advClick="0" advTm="200">
        <p:blinds dir="vert"/>
      </p:transition>
    </mc:Choice>
    <mc:Fallback xmlns="">
      <p:transition spd="slow" advClick="0" advTm="200">
        <p:blinds dir="vert"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5B478640-B2FA-3D0E-D456-900B6F7FE0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0444" y="343861"/>
            <a:ext cx="9404723" cy="929768"/>
          </a:xfrm>
        </p:spPr>
        <p:txBody>
          <a:bodyPr/>
          <a:lstStyle/>
          <a:p>
            <a:pPr algn="ctr"/>
            <a:r>
              <a:rPr lang="en-US" b="1" u="sng" dirty="0"/>
              <a:t>Conclusion</a:t>
            </a:r>
            <a:r>
              <a:rPr lang="en-US" u="sng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E3918B3E-5E56-6204-DD1A-99583186DD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1073" y="1626453"/>
            <a:ext cx="9990212" cy="488768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❖ Social media is a dynamic &amp; fast-evolving space in 2025</a:t>
            </a:r>
            <a:r>
              <a:rPr lang="en-US" dirty="0" smtClean="0"/>
              <a:t>.</a:t>
            </a:r>
          </a:p>
          <a:p>
            <a:pPr marL="0" indent="0">
              <a:buNone/>
            </a:pPr>
            <a:r>
              <a:rPr lang="en-US" dirty="0" smtClean="0"/>
              <a:t>❖ </a:t>
            </a:r>
            <a:r>
              <a:rPr lang="en-US" dirty="0"/>
              <a:t>To stay competitive, businesses must adapt to new </a:t>
            </a:r>
            <a:r>
              <a:rPr lang="en-US" dirty="0" smtClean="0"/>
              <a:t>trends: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 smtClean="0"/>
              <a:t>Video dominance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 smtClean="0"/>
              <a:t>Social commerce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 smtClean="0"/>
              <a:t>Personalized engagement</a:t>
            </a:r>
          </a:p>
          <a:p>
            <a:pPr marL="0" indent="0">
              <a:buNone/>
            </a:pPr>
            <a:r>
              <a:rPr lang="en-US" dirty="0" smtClean="0"/>
              <a:t>❖ </a:t>
            </a:r>
            <a:r>
              <a:rPr lang="en-US" dirty="0"/>
              <a:t>Focus on authenticity, data-driven approach &amp; platform-specific content</a:t>
            </a:r>
            <a:r>
              <a:rPr lang="en-US" dirty="0" smtClean="0"/>
              <a:t>.</a:t>
            </a:r>
          </a:p>
          <a:p>
            <a:pPr marL="0" indent="0">
              <a:buNone/>
            </a:pPr>
            <a:r>
              <a:rPr lang="en-US" dirty="0" smtClean="0"/>
              <a:t>❖ </a:t>
            </a:r>
            <a:r>
              <a:rPr lang="en-US" dirty="0"/>
              <a:t>This will help businesses connect deeply with audiences &amp; </a:t>
            </a:r>
            <a:r>
              <a:rPr lang="en-US" dirty="0" smtClean="0"/>
              <a:t>achieve               sustainable growth</a:t>
            </a:r>
            <a:r>
              <a:rPr lang="en-US" dirty="0"/>
              <a:t>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53637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6000" advClick="0" advTm="200">
        <p:blinds dir="vert"/>
      </p:transition>
    </mc:Choice>
    <mc:Fallback xmlns="">
      <p:transition spd="slow" advClick="0" advTm="200">
        <p:blinds dir="vert"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Chart 6">
            <a:extLst>
              <a:ext uri="{FF2B5EF4-FFF2-40B4-BE49-F238E27FC236}">
                <a16:creationId xmlns:a16="http://schemas.microsoft.com/office/drawing/2014/main" xmlns="" id="{5903C554-F9BF-9890-3205-2E0A256C6E4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967488561"/>
              </p:ext>
            </p:extLst>
          </p:nvPr>
        </p:nvGraphicFramePr>
        <p:xfrm>
          <a:off x="-936172" y="1513112"/>
          <a:ext cx="6836229" cy="525145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4" name="TextBox 13">
            <a:extLst>
              <a:ext uri="{FF2B5EF4-FFF2-40B4-BE49-F238E27FC236}">
                <a16:creationId xmlns:a16="http://schemas.microsoft.com/office/drawing/2014/main" xmlns="" id="{36F33C66-6862-3305-78E7-361BB7C299A4}"/>
              </a:ext>
            </a:extLst>
          </p:cNvPr>
          <p:cNvSpPr txBox="1"/>
          <p:nvPr/>
        </p:nvSpPr>
        <p:spPr>
          <a:xfrm>
            <a:off x="402771" y="396641"/>
            <a:ext cx="859971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US" b="1" dirty="0">
                <a:solidFill>
                  <a:srgbClr val="FFFF00"/>
                </a:solidFill>
              </a:rPr>
              <a:t>What is the percentages used by different platforms?</a:t>
            </a:r>
          </a:p>
          <a:p>
            <a:pPr marL="342900" indent="-342900">
              <a:buAutoNum type="arabicPeriod"/>
            </a:pPr>
            <a:r>
              <a:rPr lang="en-US" b="1" dirty="0">
                <a:solidFill>
                  <a:srgbClr val="FFFF00"/>
                </a:solidFill>
              </a:rPr>
              <a:t>What is the age group breakdown in social media trends?</a:t>
            </a:r>
          </a:p>
        </p:txBody>
      </p:sp>
      <p:graphicFrame>
        <p:nvGraphicFramePr>
          <p:cNvPr id="15" name="Chart 14">
            <a:extLst>
              <a:ext uri="{FF2B5EF4-FFF2-40B4-BE49-F238E27FC236}">
                <a16:creationId xmlns:a16="http://schemas.microsoft.com/office/drawing/2014/main" xmlns="" id="{FAFA33DC-6844-5097-01CE-7C89E5E63E4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615034565"/>
              </p:ext>
            </p:extLst>
          </p:nvPr>
        </p:nvGraphicFramePr>
        <p:xfrm>
          <a:off x="4864101" y="1891774"/>
          <a:ext cx="7055755" cy="487278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6" name="TextBox 15">
            <a:extLst>
              <a:ext uri="{FF2B5EF4-FFF2-40B4-BE49-F238E27FC236}">
                <a16:creationId xmlns:a16="http://schemas.microsoft.com/office/drawing/2014/main" xmlns="" id="{EC253FDF-975C-64AD-A6D8-181A52B0668A}"/>
              </a:ext>
            </a:extLst>
          </p:cNvPr>
          <p:cNvSpPr txBox="1"/>
          <p:nvPr/>
        </p:nvSpPr>
        <p:spPr>
          <a:xfrm>
            <a:off x="5551714" y="1600200"/>
            <a:ext cx="616131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/>
              <a:t>2. Age</a:t>
            </a:r>
            <a:r>
              <a:rPr lang="en-US" b="1" dirty="0"/>
              <a:t> </a:t>
            </a:r>
            <a:r>
              <a:rPr lang="en-US" sz="2000" b="1" dirty="0"/>
              <a:t>group</a:t>
            </a:r>
            <a:r>
              <a:rPr lang="en-US" b="1" dirty="0"/>
              <a:t> </a:t>
            </a:r>
            <a:r>
              <a:rPr lang="en-US" sz="2000" b="1" dirty="0"/>
              <a:t>breakdown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674982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6000" advClick="0" advTm="200">
        <p:blinds dir="vert"/>
      </p:transition>
    </mc:Choice>
    <mc:Fallback xmlns="">
      <p:transition spd="slow" advClick="0" advTm="200">
        <p:blinds dir="vert"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7C8DC492-4631-21A3-9637-BE072E1CEF1D}"/>
              </a:ext>
            </a:extLst>
          </p:cNvPr>
          <p:cNvSpPr txBox="1"/>
          <p:nvPr/>
        </p:nvSpPr>
        <p:spPr>
          <a:xfrm>
            <a:off x="1938647" y="1134050"/>
            <a:ext cx="760911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3. Growth of video content over past 3 years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AB514304-4C4E-0ECA-45E1-B39655BA751B}"/>
              </a:ext>
            </a:extLst>
          </p:cNvPr>
          <p:cNvSpPr txBox="1"/>
          <p:nvPr/>
        </p:nvSpPr>
        <p:spPr>
          <a:xfrm>
            <a:off x="827314" y="312822"/>
            <a:ext cx="676002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FF00"/>
                </a:solidFill>
              </a:rPr>
              <a:t>3.What is the growth of video content over past 3 years.</a:t>
            </a:r>
          </a:p>
          <a:p>
            <a:endParaRPr lang="en-US" dirty="0"/>
          </a:p>
        </p:txBody>
      </p:sp>
      <p:graphicFrame>
        <p:nvGraphicFramePr>
          <p:cNvPr id="8" name="Chart 7"/>
          <p:cNvGraphicFramePr/>
          <p:nvPr>
            <p:extLst>
              <p:ext uri="{D42A27DB-BD31-4B8C-83A1-F6EECF244321}">
                <p14:modId xmlns:p14="http://schemas.microsoft.com/office/powerpoint/2010/main" val="805222847"/>
              </p:ext>
            </p:extLst>
          </p:nvPr>
        </p:nvGraphicFramePr>
        <p:xfrm>
          <a:off x="1663865" y="1709057"/>
          <a:ext cx="7883896" cy="442927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2699992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6000" advClick="0" advTm="200">
        <p:blinds dir="vert"/>
      </p:transition>
    </mc:Choice>
    <mc:Fallback xmlns="">
      <p:transition spd="slow" advClick="0" advTm="200">
        <p:blinds dir="vert"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BB6B82CC-E494-9EF6-C9AC-D2B5F9B0AE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2340429"/>
            <a:ext cx="10119860" cy="4223657"/>
          </a:xfrm>
        </p:spPr>
        <p:txBody>
          <a:bodyPr/>
          <a:lstStyle/>
          <a:p>
            <a:pPr algn="ctr"/>
            <a:r>
              <a:rPr lang="en-US" sz="8000" b="1" dirty="0">
                <a:solidFill>
                  <a:schemeClr val="tx1"/>
                </a:solidFill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9003690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6000" advClick="0" advTm="200">
        <p:blinds dir="vert"/>
      </p:transition>
    </mc:Choice>
    <mc:Fallback xmlns="">
      <p:transition spd="slow" advClick="0" advTm="200">
        <p:blinds dir="vert"/>
      </p:transition>
    </mc:Fallback>
  </mc:AlternateContent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1091</TotalTime>
  <Words>501</Words>
  <Application>Microsoft Office PowerPoint</Application>
  <PresentationFormat>Widescreen</PresentationFormat>
  <Paragraphs>109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Century Gothic</vt:lpstr>
      <vt:lpstr>Wingdings</vt:lpstr>
      <vt:lpstr>Wingdings 3</vt:lpstr>
      <vt:lpstr>Ion</vt:lpstr>
      <vt:lpstr>SOCIAL MEDIA USAGE TRENDS IN 2025 </vt:lpstr>
      <vt:lpstr>Introduction </vt:lpstr>
      <vt:lpstr>PowerPoint Presentation</vt:lpstr>
      <vt:lpstr>Key Statistics</vt:lpstr>
      <vt:lpstr>PowerPoint Presentation</vt:lpstr>
      <vt:lpstr>Age Group Breakdown</vt:lpstr>
      <vt:lpstr>PowerPoint Presentation</vt:lpstr>
      <vt:lpstr>Business Impact</vt:lpstr>
      <vt:lpstr>Recommendations</vt:lpstr>
      <vt:lpstr>Conclusion </vt:lpstr>
      <vt:lpstr>PowerPoint Presentation</vt:lpstr>
      <vt:lpstr>PowerPoint Presentation</vt:lpstr>
      <vt:lpstr>Thank You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SOCIAL MEDIA USAGE TRENDS IN 2025 </dc:title>
  <dc:creator>khushi gupta</dc:creator>
  <cp:lastModifiedBy>Admin</cp:lastModifiedBy>
  <cp:revision>80</cp:revision>
  <dcterms:created xsi:type="dcterms:W3CDTF">2025-07-15T02:44:32Z</dcterms:created>
  <dcterms:modified xsi:type="dcterms:W3CDTF">2026-09-17T09:01:12Z</dcterms:modified>
</cp:coreProperties>
</file>